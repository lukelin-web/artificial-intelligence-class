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59"/>
  </p:notesMasterIdLst>
  <p:sldIdLst>
    <p:sldId id="256" r:id="rId2"/>
    <p:sldId id="257" r:id="rId3"/>
    <p:sldId id="351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5" r:id="rId15"/>
    <p:sldId id="364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8" r:id="rId38"/>
    <p:sldId id="389" r:id="rId39"/>
    <p:sldId id="390" r:id="rId40"/>
    <p:sldId id="352" r:id="rId41"/>
    <p:sldId id="391" r:id="rId42"/>
    <p:sldId id="392" r:id="rId43"/>
    <p:sldId id="393" r:id="rId44"/>
    <p:sldId id="394" r:id="rId45"/>
    <p:sldId id="395" r:id="rId46"/>
    <p:sldId id="396" r:id="rId47"/>
    <p:sldId id="397" r:id="rId48"/>
    <p:sldId id="398" r:id="rId49"/>
    <p:sldId id="399" r:id="rId50"/>
    <p:sldId id="400" r:id="rId51"/>
    <p:sldId id="401" r:id="rId52"/>
    <p:sldId id="402" r:id="rId53"/>
    <p:sldId id="403" r:id="rId54"/>
    <p:sldId id="404" r:id="rId55"/>
    <p:sldId id="405" r:id="rId56"/>
    <p:sldId id="406" r:id="rId57"/>
    <p:sldId id="407" r:id="rId5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150" autoAdjust="0"/>
  </p:normalViewPr>
  <p:slideViewPr>
    <p:cSldViewPr snapToGrid="0">
      <p:cViewPr varScale="1">
        <p:scale>
          <a:sx n="57" d="100"/>
          <a:sy n="57" d="100"/>
        </p:scale>
        <p:origin x="165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E0ED09-DA0E-4EA7-9C7E-EF9D56CC79A1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AF8EF-9314-4241-BE1F-4641E6EE1A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242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注意隐含的进位约束。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528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57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3360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755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0381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781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3928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217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115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347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求解这个字母算式，根据 约束满足问题的求解步骤即可。已经将问题形式化为了一个超图。注意求解使用的方法：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回溯法</a:t>
            </a:r>
            <a:r>
              <a:rPr lang="en-US" altLang="zh-CN" dirty="0"/>
              <a:t>+</a:t>
            </a:r>
            <a:r>
              <a:rPr lang="zh-CN" altLang="en-US" dirty="0"/>
              <a:t>前向检查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最小剩余值，</a:t>
            </a:r>
            <a:r>
              <a:rPr lang="en-US" altLang="zh-CN" dirty="0"/>
              <a:t>minimum remaining values</a:t>
            </a:r>
          </a:p>
          <a:p>
            <a:pPr marL="228600" indent="-228600">
              <a:buAutoNum type="arabicPeriod"/>
            </a:pPr>
            <a:r>
              <a:rPr lang="zh-CN" altLang="en-US" dirty="0"/>
              <a:t>最小约束值，</a:t>
            </a:r>
            <a:r>
              <a:rPr lang="en-US" altLang="zh-CN" dirty="0"/>
              <a:t>least constraining value</a:t>
            </a:r>
          </a:p>
          <a:p>
            <a:pPr marL="228600" indent="-228600">
              <a:buAutoNum type="arabicPeriod"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注意字母本身存在的约束，两个三位数求和为四位数，首位不为零，不同字母代表不同数字，有些同学没有注意这些细节。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80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634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85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5656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133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189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494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919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303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029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3209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967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06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874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2648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9750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355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0027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4657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68371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04087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36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回忆一下</a:t>
            </a:r>
            <a:r>
              <a:rPr lang="en-US" altLang="zh-CN" dirty="0"/>
              <a:t>AC-3</a:t>
            </a:r>
            <a:r>
              <a:rPr lang="zh-CN" altLang="en-US" dirty="0"/>
              <a:t>算法。</a:t>
            </a:r>
            <a:endParaRPr lang="en-US" altLang="zh-CN" dirty="0"/>
          </a:p>
          <a:p>
            <a:r>
              <a:rPr lang="zh-CN" altLang="en-US" dirty="0"/>
              <a:t>本质上说</a:t>
            </a:r>
            <a:r>
              <a:rPr lang="en-US" altLang="zh-CN" dirty="0"/>
              <a:t>AC-3</a:t>
            </a:r>
            <a:r>
              <a:rPr lang="zh-CN" altLang="en-US" dirty="0"/>
              <a:t>不过是一种图遍历算法。而图遍历算法无外乎两种：深度优先和广度优先。</a:t>
            </a:r>
            <a:endParaRPr lang="en-US" altLang="zh-CN" dirty="0"/>
          </a:p>
          <a:p>
            <a:r>
              <a:rPr lang="zh-CN" altLang="en-US" dirty="0"/>
              <a:t>联系之前学的</a:t>
            </a:r>
            <a:r>
              <a:rPr lang="en-US" altLang="zh-CN" dirty="0"/>
              <a:t>DFS</a:t>
            </a:r>
            <a:r>
              <a:rPr lang="zh-CN" altLang="en-US" dirty="0"/>
              <a:t>和</a:t>
            </a:r>
            <a:r>
              <a:rPr lang="en-US" altLang="zh-CN" dirty="0"/>
              <a:t>BFS</a:t>
            </a:r>
            <a:r>
              <a:rPr lang="zh-CN" altLang="en-US" dirty="0"/>
              <a:t>，对比</a:t>
            </a:r>
            <a:r>
              <a:rPr lang="en-US" altLang="zh-CN" dirty="0"/>
              <a:t>CSP</a:t>
            </a:r>
            <a:r>
              <a:rPr lang="zh-CN" altLang="en-US" dirty="0"/>
              <a:t>中用到的图搜索：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/>
              <a:t>回溯法对应</a:t>
            </a:r>
            <a:r>
              <a:rPr lang="en-US" altLang="zh-CN" dirty="0"/>
              <a:t>DFS</a:t>
            </a:r>
            <a:r>
              <a:rPr lang="zh-CN" altLang="en-US" dirty="0"/>
              <a:t>的思想，可抽象为基于栈结构的实现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AC-3</a:t>
            </a:r>
            <a:r>
              <a:rPr lang="zh-CN" altLang="en-US" dirty="0"/>
              <a:t>对应</a:t>
            </a:r>
            <a:r>
              <a:rPr lang="en-US" altLang="zh-CN" dirty="0"/>
              <a:t>BFS</a:t>
            </a:r>
            <a:r>
              <a:rPr lang="zh-CN" altLang="en-US" dirty="0"/>
              <a:t>的思想，可抽象为基于队列结构的实现</a:t>
            </a:r>
            <a:endParaRPr lang="en-US" altLang="zh-CN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既然这样，</a:t>
            </a:r>
            <a:r>
              <a:rPr lang="en-US" altLang="zh-CN" dirty="0"/>
              <a:t>AC-3</a:t>
            </a:r>
            <a:r>
              <a:rPr lang="zh-CN" altLang="en-US" dirty="0"/>
              <a:t>就好理解多了，可以当成一个类似</a:t>
            </a:r>
            <a:r>
              <a:rPr lang="en-US" altLang="zh-CN" dirty="0"/>
              <a:t>BFS</a:t>
            </a:r>
            <a:r>
              <a:rPr lang="zh-CN" altLang="en-US" dirty="0"/>
              <a:t>的方法，而</a:t>
            </a:r>
            <a:r>
              <a:rPr lang="en-US" altLang="zh-CN" dirty="0"/>
              <a:t>BFS</a:t>
            </a:r>
            <a:r>
              <a:rPr lang="zh-CN" altLang="en-US" dirty="0"/>
              <a:t>需要一个队列来实现，注意这里队列中存储的是图的边。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2789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判断哪些推理是正确的。方法：真值表，复杂逻辑等价转换为</a:t>
            </a:r>
            <a:r>
              <a:rPr lang="en-US" altLang="zh-CN" dirty="0"/>
              <a:t>&amp;</a:t>
            </a:r>
            <a:r>
              <a:rPr lang="zh-CN" altLang="en-US" dirty="0"/>
              <a:t>和</a:t>
            </a:r>
            <a:r>
              <a:rPr lang="en-US" altLang="zh-CN" dirty="0"/>
              <a:t>|</a:t>
            </a:r>
            <a:r>
              <a:rPr lang="zh-CN" altLang="en-US" dirty="0"/>
              <a:t>，转成析取范式或合取范式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209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7812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0031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2971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根据假设，应该是基因决定手性（基因型决定表现型），而非表现型决定表现型。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3200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根据假设，应该是基因决定手性（基因型决定表现型），而非表现型决定表现型。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42140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加入了父母基因型的先验概率，直接结合上一问的</a:t>
            </a:r>
            <a:r>
              <a:rPr lang="en-US" altLang="zh-CN" dirty="0"/>
              <a:t>CPT</a:t>
            </a:r>
            <a:r>
              <a:rPr lang="zh-CN" altLang="en-US" dirty="0"/>
              <a:t>就可以计算。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2561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解释：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显性基因和隐性基因表现的比例并非一样，右利手可能是显性基因</a:t>
            </a:r>
            <a:endParaRPr lang="en-US" altLang="zh-CN" dirty="0"/>
          </a:p>
          <a:p>
            <a:pPr marL="228600" indent="-228600">
              <a:buAutoNum type="arabicPeriod"/>
            </a:pPr>
            <a:r>
              <a:rPr lang="zh-CN" altLang="en-US" dirty="0"/>
              <a:t>手性可能是多基因联合控制的</a:t>
            </a:r>
            <a:endParaRPr lang="en-US" altLang="zh-CN" dirty="0"/>
          </a:p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4543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filtering</a:t>
            </a:r>
            <a:r>
              <a:rPr lang="zh-CN" altLang="en-US" dirty="0"/>
              <a:t>过程看出这是个递归的过程，我们可以从起始状态开始算起。每次对某个状态完成滤波之后，将该状态作为新的起始状态继续向后计算。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287433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filtering</a:t>
            </a:r>
            <a:r>
              <a:rPr lang="zh-CN" altLang="en-US" dirty="0"/>
              <a:t>过程看出这是个递归的过程，我们可以从起始状态开始算起。每次对某个状态完成滤波之后，将该状态作为新的起始状态继续向后计算。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98905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filtering</a:t>
            </a:r>
            <a:r>
              <a:rPr lang="zh-CN" altLang="en-US" dirty="0"/>
              <a:t>过程看出这是个递归的过程，我们可以从起始状态开始算起。每次对某个状态完成滤波之后，将该状态作为新的起始状态继续向后计算。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22440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smoothing</a:t>
            </a:r>
            <a:r>
              <a:rPr lang="zh-CN" altLang="en-US" dirty="0"/>
              <a:t>过程包括前传和反传两步。前传就是用之前所有状态（包括当前态）做一次</a:t>
            </a:r>
            <a:r>
              <a:rPr lang="en-US" altLang="zh-CN" dirty="0"/>
              <a:t>filtering</a:t>
            </a:r>
            <a:r>
              <a:rPr lang="zh-CN" altLang="en-US" dirty="0"/>
              <a:t>，反传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7236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smoothing</a:t>
            </a:r>
            <a:r>
              <a:rPr lang="zh-CN" altLang="en-US" dirty="0"/>
              <a:t>过程包括前传和反传两步。前传就是用之前所有状态（包括当前态）做一次</a:t>
            </a:r>
            <a:r>
              <a:rPr lang="en-US" altLang="zh-CN" dirty="0"/>
              <a:t>filtering</a:t>
            </a:r>
            <a:r>
              <a:rPr lang="zh-CN" altLang="en-US" dirty="0"/>
              <a:t>，反传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75301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smoothing</a:t>
            </a:r>
            <a:r>
              <a:rPr lang="zh-CN" altLang="en-US" dirty="0"/>
              <a:t>过程包括前传和反传两步。前传就是用之前所有状态（包括当前态）做一次</a:t>
            </a:r>
            <a:r>
              <a:rPr lang="en-US" altLang="zh-CN" dirty="0"/>
              <a:t>filtering</a:t>
            </a:r>
            <a:r>
              <a:rPr lang="zh-CN" altLang="en-US" dirty="0"/>
              <a:t>，反传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AF8EF-9314-4241-BE1F-4641E6EE1AB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08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29EBF-CF56-4923-8104-637923F03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FEBA5B-A033-4778-96BA-9691D9D3A8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ABE979-1E27-4D34-992C-55A97DCB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FF43F-FE09-4E71-90EB-469239891B02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A58D8-FF17-4A81-8F08-9A49D1508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692F3B-6FDA-4449-80D6-C468FEC6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153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2A8F6-C14E-4191-B170-CC282B02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67D44D-E0F1-45BF-85F6-DEFABFF7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46"/>
            <a:ext cx="10515600" cy="462111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C8380-CE6E-439E-ADE0-020BCC08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79F78-032E-48A4-82B5-25BA4B9B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7D807-9C71-4473-88AB-D7F2A590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FBE46C-1558-4189-B114-110216580ED4}"/>
              </a:ext>
            </a:extLst>
          </p:cNvPr>
          <p:cNvCxnSpPr/>
          <p:nvPr/>
        </p:nvCxnSpPr>
        <p:spPr>
          <a:xfrm>
            <a:off x="838200" y="1130531"/>
            <a:ext cx="10515600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89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文本和对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52A8F6-C14E-4191-B170-CC282B02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878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67D44D-E0F1-45BF-85F6-DEFABFF7C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46"/>
            <a:ext cx="5257800" cy="4621117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C8380-CE6E-439E-ADE0-020BCC085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73FB4-02BC-4048-A1A9-FBCA56BBBD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879F78-032E-48A4-82B5-25BA4B9BE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07D807-9C71-4473-88AB-D7F2A5900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3FBE46C-1558-4189-B114-110216580ED4}"/>
              </a:ext>
            </a:extLst>
          </p:cNvPr>
          <p:cNvCxnSpPr/>
          <p:nvPr/>
        </p:nvCxnSpPr>
        <p:spPr>
          <a:xfrm>
            <a:off x="838200" y="1130531"/>
            <a:ext cx="10515600" cy="0"/>
          </a:xfrm>
          <a:prstGeom prst="line">
            <a:avLst/>
          </a:prstGeom>
          <a:ln w="38100"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C0E8B1F-BBBF-4100-ADD7-698E08B4EB4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96000" y="1555846"/>
            <a:ext cx="5257800" cy="462111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9528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983C7-1A39-4541-B922-4AAE21E02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391856-A1FC-4579-93D8-E913EA7A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9769-F24C-4B18-9C23-FB94CE60427E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DF4DA7-BC50-41FA-B614-3A42AE4F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FE2240-D1F4-43BE-BF88-35A29D8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077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C6A0406-9430-4874-8A6F-6B3B136D4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B66DD10-C1D6-47D1-89F3-7A782DE80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9D60E1-B998-407E-B6A6-9F89D95D58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3FEC1B-2FCF-467B-B673-4B798EE87F09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A08199-8E85-44B4-8998-96EC71242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65D9F5-DA62-4D0F-86FD-2A96C821C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CA0B7-93AB-481E-9FA1-2CC4839958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88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u="none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0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49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Relationship Id="rId9" Type="http://schemas.openxmlformats.org/officeDocument/2006/relationships/image" Target="../media/image5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55.pn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74.png"/><Relationship Id="rId7" Type="http://schemas.openxmlformats.org/officeDocument/2006/relationships/image" Target="../media/image70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7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19DDF6-8668-4802-8120-0D3C5F09E6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Recitations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9BED17-C5DB-442B-A09A-BFC76DB4C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/>
              <a:t>Homework</a:t>
            </a:r>
          </a:p>
          <a:p>
            <a:r>
              <a:rPr lang="en-US" altLang="zh-CN"/>
              <a:t>TA</a:t>
            </a:r>
            <a:r>
              <a:rPr lang="en-US" altLang="zh-CN" dirty="0"/>
              <a:t>: Jiachen Li</a:t>
            </a:r>
          </a:p>
          <a:p>
            <a:r>
              <a:rPr lang="en-US" altLang="zh-CN" dirty="0"/>
              <a:t>2021.5.17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5C4E9D-7710-4F6D-9EF9-D6E94E980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BA0F3-E2B3-4468-B8B5-DC1B39BB5FD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051863-BB4E-4022-8C54-959E989C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2021 Spring, Artificial Intelligence, ISEE, Zhejiang University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F65153-3C44-4305-9156-28969939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18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297FCF-6A1E-46B3-8DB4-8E4BDA8CC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Outline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25C8C-4374-45D5-9BF6-60F0157F0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Today’s content …</a:t>
            </a:r>
          </a:p>
          <a:p>
            <a:pPr lvl="1"/>
            <a:r>
              <a:rPr lang="en-US" altLang="zh-CN" dirty="0"/>
              <a:t>Homework 3</a:t>
            </a:r>
          </a:p>
          <a:p>
            <a:pPr lvl="1"/>
            <a:r>
              <a:rPr lang="en-US" altLang="zh-CN" dirty="0"/>
              <a:t>Homework 4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F8298-26F1-4A0A-BB8E-307401A1C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1EE998-5589-4835-AD4D-30B2EF62A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0D15DF-0511-4BB2-A0FF-56566B40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683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9BDCD6-75A2-486F-A92A-BDC929B7C15C}"/>
              </a:ext>
            </a:extLst>
          </p:cNvPr>
          <p:cNvSpPr txBox="1"/>
          <p:nvPr/>
        </p:nvSpPr>
        <p:spPr>
          <a:xfrm>
            <a:off x="7409496" y="2055786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F7E458A-3073-4771-82B4-BAEB532CABCF}"/>
                  </a:ext>
                </a:extLst>
              </p:cNvPr>
              <p:cNvSpPr txBox="1"/>
              <p:nvPr/>
            </p:nvSpPr>
            <p:spPr>
              <a:xfrm>
                <a:off x="982715" y="5163127"/>
                <a:ext cx="5040226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Attention: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The leading digit should be non-zero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Different characters represent different numbers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Consider carry,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3F7E458A-3073-4771-82B4-BAEB532CA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715" y="5163127"/>
                <a:ext cx="5040226" cy="1200329"/>
              </a:xfrm>
              <a:prstGeom prst="rect">
                <a:avLst/>
              </a:prstGeom>
              <a:blipFill>
                <a:blip r:embed="rId4"/>
                <a:stretch>
                  <a:fillRect l="-967" t="-3046" r="-242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8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9BDCD6-75A2-486F-A92A-BDC929B7C15C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362541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b="0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3625416" cy="923330"/>
              </a:xfrm>
              <a:prstGeom prst="rect">
                <a:avLst/>
              </a:prstGeom>
              <a:blipFill>
                <a:blip r:embed="rId4"/>
                <a:stretch>
                  <a:fillRect l="-1345" t="-3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3241964" y="3879273"/>
            <a:ext cx="517236" cy="5172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625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1200329"/>
              </a:xfrm>
              <a:prstGeom prst="rect">
                <a:avLst/>
              </a:prstGeom>
              <a:blipFill>
                <a:blip r:embed="rId4"/>
                <a:stretch>
                  <a:fillRect l="-1026" t="-2538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3241964" y="3879273"/>
            <a:ext cx="517236" cy="517236"/>
          </a:xfrm>
          <a:prstGeom prst="rect">
            <a:avLst/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031BFF-4903-4D6B-B998-6ED1C15A5C6C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285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1477328"/>
              </a:xfrm>
              <a:prstGeom prst="rect">
                <a:avLst/>
              </a:prstGeom>
              <a:blipFill>
                <a:blip r:embed="rId4"/>
                <a:stretch>
                  <a:fillRect l="-1026" t="-2058" b="-53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C29F09-609B-4356-BF88-A25AFF004DAE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FEA284-60EF-48CA-A768-C3278462FF45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798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2585323"/>
              </a:xfrm>
              <a:prstGeom prst="rect">
                <a:avLst/>
              </a:prstGeom>
              <a:blipFill>
                <a:blip r:embed="rId4"/>
                <a:stretch>
                  <a:fillRect l="-1026" t="-1179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DF37C4C-495D-47C5-9836-C545B9911A28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36AAE1C-9069-4FAD-A540-94CECFC8E116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4291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3139321"/>
              </a:xfrm>
              <a:prstGeom prst="rect">
                <a:avLst/>
              </a:prstGeom>
              <a:blipFill>
                <a:blip r:embed="rId4"/>
                <a:stretch>
                  <a:fillRect l="-1026" t="-971" b="-21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FB2057-9D4D-4EAB-BE94-D945001759A3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C03DAF-B74B-499E-93D2-C1297E085AB4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1537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it suggests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dirty="0"/>
                  <a:t> must be an even number less than 5.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 according to LCV.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4247317"/>
              </a:xfrm>
              <a:prstGeom prst="rect">
                <a:avLst/>
              </a:prstGeom>
              <a:blipFill>
                <a:blip r:embed="rId4"/>
                <a:stretch>
                  <a:fillRect l="-1026" t="-717" b="-12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772945-0276-4B35-B4B0-830191FEBAC5}"/>
              </a:ext>
            </a:extLst>
          </p:cNvPr>
          <p:cNvSpPr/>
          <p:nvPr/>
        </p:nvSpPr>
        <p:spPr>
          <a:xfrm>
            <a:off x="1449152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9A392-C2B7-42F2-99ED-4E58D01F951C}"/>
              </a:ext>
            </a:extLst>
          </p:cNvPr>
          <p:cNvSpPr/>
          <p:nvPr/>
        </p:nvSpPr>
        <p:spPr>
          <a:xfrm>
            <a:off x="195118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43C1E-243E-46C3-9BFB-A639EFD3DFFB}"/>
              </a:ext>
            </a:extLst>
          </p:cNvPr>
          <p:cNvSpPr/>
          <p:nvPr/>
        </p:nvSpPr>
        <p:spPr>
          <a:xfrm>
            <a:off x="1951182" y="31449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850E6-B14E-452D-BFCB-3F0AD0A03B6F}"/>
              </a:ext>
            </a:extLst>
          </p:cNvPr>
          <p:cNvSpPr/>
          <p:nvPr/>
        </p:nvSpPr>
        <p:spPr>
          <a:xfrm>
            <a:off x="5358819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CD3FEC-B659-46A8-A802-91C7E95D5F36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6142E29-2987-4584-BBF4-297F7637D449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5736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it suggests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dirty="0"/>
                  <a:t> must be an even number less than 5.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 according to LCV.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4524315"/>
              </a:xfrm>
              <a:prstGeom prst="rect">
                <a:avLst/>
              </a:prstGeom>
              <a:blipFill>
                <a:blip r:embed="rId4"/>
                <a:stretch>
                  <a:fillRect l="-1026" t="-674" b="-1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772945-0276-4B35-B4B0-830191FEBAC5}"/>
              </a:ext>
            </a:extLst>
          </p:cNvPr>
          <p:cNvSpPr/>
          <p:nvPr/>
        </p:nvSpPr>
        <p:spPr>
          <a:xfrm>
            <a:off x="1449152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9A392-C2B7-42F2-99ED-4E58D01F951C}"/>
              </a:ext>
            </a:extLst>
          </p:cNvPr>
          <p:cNvSpPr/>
          <p:nvPr/>
        </p:nvSpPr>
        <p:spPr>
          <a:xfrm>
            <a:off x="195118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43C1E-243E-46C3-9BFB-A639EFD3DFFB}"/>
              </a:ext>
            </a:extLst>
          </p:cNvPr>
          <p:cNvSpPr/>
          <p:nvPr/>
        </p:nvSpPr>
        <p:spPr>
          <a:xfrm>
            <a:off x="1951182" y="31449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850E6-B14E-452D-BFCB-3F0AD0A03B6F}"/>
              </a:ext>
            </a:extLst>
          </p:cNvPr>
          <p:cNvSpPr/>
          <p:nvPr/>
        </p:nvSpPr>
        <p:spPr>
          <a:xfrm>
            <a:off x="5358819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CD3FEC-B659-46A8-A802-91C7E95D5F36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84ACA-B537-48B9-A07D-163DE9703641}"/>
              </a:ext>
            </a:extLst>
          </p:cNvPr>
          <p:cNvSpPr/>
          <p:nvPr/>
        </p:nvSpPr>
        <p:spPr>
          <a:xfrm>
            <a:off x="4950691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9765D1-1155-4F0C-B682-7A94549459D6}"/>
              </a:ext>
            </a:extLst>
          </p:cNvPr>
          <p:cNvSpPr/>
          <p:nvPr/>
        </p:nvSpPr>
        <p:spPr>
          <a:xfrm>
            <a:off x="1946958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7363EB-F1DC-4EEA-B6E4-6DAEA45F9BE0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2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it suggests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dirty="0"/>
                  <a:t> must be an even number less than 5.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 according to LCV.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4801314"/>
              </a:xfrm>
              <a:prstGeom prst="rect">
                <a:avLst/>
              </a:prstGeom>
              <a:blipFill>
                <a:blip r:embed="rId4"/>
                <a:stretch>
                  <a:fillRect l="-1026" t="-635" b="-10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772945-0276-4B35-B4B0-830191FEBAC5}"/>
              </a:ext>
            </a:extLst>
          </p:cNvPr>
          <p:cNvSpPr/>
          <p:nvPr/>
        </p:nvSpPr>
        <p:spPr>
          <a:xfrm>
            <a:off x="1449152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9A392-C2B7-42F2-99ED-4E58D01F951C}"/>
              </a:ext>
            </a:extLst>
          </p:cNvPr>
          <p:cNvSpPr/>
          <p:nvPr/>
        </p:nvSpPr>
        <p:spPr>
          <a:xfrm>
            <a:off x="195118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43C1E-243E-46C3-9BFB-A639EFD3DFFB}"/>
              </a:ext>
            </a:extLst>
          </p:cNvPr>
          <p:cNvSpPr/>
          <p:nvPr/>
        </p:nvSpPr>
        <p:spPr>
          <a:xfrm>
            <a:off x="1951182" y="31449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850E6-B14E-452D-BFCB-3F0AD0A03B6F}"/>
              </a:ext>
            </a:extLst>
          </p:cNvPr>
          <p:cNvSpPr/>
          <p:nvPr/>
        </p:nvSpPr>
        <p:spPr>
          <a:xfrm>
            <a:off x="5358819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CD3FEC-B659-46A8-A802-91C7E95D5F36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84ACA-B537-48B9-A07D-163DE9703641}"/>
              </a:ext>
            </a:extLst>
          </p:cNvPr>
          <p:cNvSpPr/>
          <p:nvPr/>
        </p:nvSpPr>
        <p:spPr>
          <a:xfrm>
            <a:off x="4950691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9765D1-1155-4F0C-B682-7A94549459D6}"/>
              </a:ext>
            </a:extLst>
          </p:cNvPr>
          <p:cNvSpPr/>
          <p:nvPr/>
        </p:nvSpPr>
        <p:spPr>
          <a:xfrm>
            <a:off x="1946958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609653-B421-4276-8FD2-87763AFD8737}"/>
              </a:ext>
            </a:extLst>
          </p:cNvPr>
          <p:cNvSpPr/>
          <p:nvPr/>
        </p:nvSpPr>
        <p:spPr>
          <a:xfrm>
            <a:off x="3581400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0D716E-1E2D-4E06-B09A-B14EF3C19E4C}"/>
              </a:ext>
            </a:extLst>
          </p:cNvPr>
          <p:cNvSpPr/>
          <p:nvPr/>
        </p:nvSpPr>
        <p:spPr>
          <a:xfrm>
            <a:off x="1447407" y="3136804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5EFB2C-10DA-4082-91F6-13D8C0F4D5FB}"/>
              </a:ext>
            </a:extLst>
          </p:cNvPr>
          <p:cNvSpPr/>
          <p:nvPr/>
        </p:nvSpPr>
        <p:spPr>
          <a:xfrm>
            <a:off x="144915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1FBEE3-E3FE-4EA9-A752-90FBFCB75EA3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2425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555846"/>
                <a:ext cx="4756727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it suggests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dirty="0"/>
                  <a:t> must be an even number less than 5.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 according to LCV.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zh-CN" dirty="0"/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555846"/>
                <a:ext cx="4756727" cy="5078313"/>
              </a:xfrm>
              <a:prstGeom prst="rect">
                <a:avLst/>
              </a:prstGeom>
              <a:blipFill>
                <a:blip r:embed="rId4"/>
                <a:stretch>
                  <a:fillRect l="-1026" t="-600" b="-9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772945-0276-4B35-B4B0-830191FEBAC5}"/>
              </a:ext>
            </a:extLst>
          </p:cNvPr>
          <p:cNvSpPr/>
          <p:nvPr/>
        </p:nvSpPr>
        <p:spPr>
          <a:xfrm>
            <a:off x="1449152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9A392-C2B7-42F2-99ED-4E58D01F951C}"/>
              </a:ext>
            </a:extLst>
          </p:cNvPr>
          <p:cNvSpPr/>
          <p:nvPr/>
        </p:nvSpPr>
        <p:spPr>
          <a:xfrm>
            <a:off x="195118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43C1E-243E-46C3-9BFB-A639EFD3DFFB}"/>
              </a:ext>
            </a:extLst>
          </p:cNvPr>
          <p:cNvSpPr/>
          <p:nvPr/>
        </p:nvSpPr>
        <p:spPr>
          <a:xfrm>
            <a:off x="1951182" y="31449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850E6-B14E-452D-BFCB-3F0AD0A03B6F}"/>
              </a:ext>
            </a:extLst>
          </p:cNvPr>
          <p:cNvSpPr/>
          <p:nvPr/>
        </p:nvSpPr>
        <p:spPr>
          <a:xfrm>
            <a:off x="5358819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CD3FEC-B659-46A8-A802-91C7E95D5F36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84ACA-B537-48B9-A07D-163DE9703641}"/>
              </a:ext>
            </a:extLst>
          </p:cNvPr>
          <p:cNvSpPr/>
          <p:nvPr/>
        </p:nvSpPr>
        <p:spPr>
          <a:xfrm>
            <a:off x="4950691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9765D1-1155-4F0C-B682-7A94549459D6}"/>
              </a:ext>
            </a:extLst>
          </p:cNvPr>
          <p:cNvSpPr/>
          <p:nvPr/>
        </p:nvSpPr>
        <p:spPr>
          <a:xfrm>
            <a:off x="1946958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609653-B421-4276-8FD2-87763AFD8737}"/>
              </a:ext>
            </a:extLst>
          </p:cNvPr>
          <p:cNvSpPr/>
          <p:nvPr/>
        </p:nvSpPr>
        <p:spPr>
          <a:xfrm>
            <a:off x="3581400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0D716E-1E2D-4E06-B09A-B14EF3C19E4C}"/>
              </a:ext>
            </a:extLst>
          </p:cNvPr>
          <p:cNvSpPr/>
          <p:nvPr/>
        </p:nvSpPr>
        <p:spPr>
          <a:xfrm>
            <a:off x="1447407" y="3136804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5EFB2C-10DA-4082-91F6-13D8C0F4D5FB}"/>
              </a:ext>
            </a:extLst>
          </p:cNvPr>
          <p:cNvSpPr/>
          <p:nvPr/>
        </p:nvSpPr>
        <p:spPr>
          <a:xfrm>
            <a:off x="144915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A516D9-6EF4-45B9-ACE1-75E93DCDA73B}"/>
              </a:ext>
            </a:extLst>
          </p:cNvPr>
          <p:cNvSpPr/>
          <p:nvPr/>
        </p:nvSpPr>
        <p:spPr>
          <a:xfrm>
            <a:off x="4008582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3B9325-3713-455D-B066-7A64B239ECFB}"/>
              </a:ext>
            </a:extLst>
          </p:cNvPr>
          <p:cNvSpPr/>
          <p:nvPr/>
        </p:nvSpPr>
        <p:spPr>
          <a:xfrm>
            <a:off x="1698620" y="3711283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115D30-9BF0-40A6-AB08-F238D3DCE1DF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600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1FF61B9-4C13-4AC6-821F-4D68D7C0F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715" y="2055786"/>
            <a:ext cx="6111770" cy="25986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/>
              <p:nvPr/>
            </p:nvSpPr>
            <p:spPr>
              <a:xfrm>
                <a:off x="7370618" y="1223336"/>
                <a:ext cx="4756727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Possible solution: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Consider carry values,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b="0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forward checking to exclude 0,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 is assigned with 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, which have minimum remaining values (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).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dirty="0"/>
                  <a:t> both survive the forward checking.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consider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with only 2 values. Choose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 for example.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With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/>
                  <a:t> 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+10×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/>
                  <a:t>, it suggests that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altLang="zh-CN" dirty="0"/>
                  <a:t> must be an even number less than 5.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zh-CN" dirty="0"/>
                  <a:t> according to LCV.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Apply MRV, choose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5FE1921C-BF6D-4324-83F1-D5C3D5FAB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618" y="1223336"/>
                <a:ext cx="4756727" cy="5355312"/>
              </a:xfrm>
              <a:prstGeom prst="rect">
                <a:avLst/>
              </a:prstGeom>
              <a:blipFill>
                <a:blip r:embed="rId4"/>
                <a:stretch>
                  <a:fillRect l="-1026" t="-683" b="-9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7E1D7131-5D98-4C3B-BF31-7480087D4158}"/>
              </a:ext>
            </a:extLst>
          </p:cNvPr>
          <p:cNvSpPr/>
          <p:nvPr/>
        </p:nvSpPr>
        <p:spPr>
          <a:xfrm>
            <a:off x="1209964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1AFA554-E58F-4F46-80E0-7FC409ABDFFC}"/>
              </a:ext>
            </a:extLst>
          </p:cNvPr>
          <p:cNvSpPr/>
          <p:nvPr/>
        </p:nvSpPr>
        <p:spPr>
          <a:xfrm>
            <a:off x="3325091" y="3971636"/>
            <a:ext cx="369454" cy="3417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986C7-6AA6-44BF-B418-2279AC3A7502}"/>
              </a:ext>
            </a:extLst>
          </p:cNvPr>
          <p:cNvSpPr/>
          <p:nvPr/>
        </p:nvSpPr>
        <p:spPr>
          <a:xfrm>
            <a:off x="4008582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D68486-FBCF-494E-98B9-47D2CC027655}"/>
              </a:ext>
            </a:extLst>
          </p:cNvPr>
          <p:cNvSpPr/>
          <p:nvPr/>
        </p:nvSpPr>
        <p:spPr>
          <a:xfrm>
            <a:off x="4950691" y="3971636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772945-0276-4B35-B4B0-830191FEBAC5}"/>
              </a:ext>
            </a:extLst>
          </p:cNvPr>
          <p:cNvSpPr/>
          <p:nvPr/>
        </p:nvSpPr>
        <p:spPr>
          <a:xfrm>
            <a:off x="1449152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29A392-C2B7-42F2-99ED-4E58D01F951C}"/>
              </a:ext>
            </a:extLst>
          </p:cNvPr>
          <p:cNvSpPr/>
          <p:nvPr/>
        </p:nvSpPr>
        <p:spPr>
          <a:xfrm>
            <a:off x="195118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4743C1E-243E-46C3-9BFB-A639EFD3DFFB}"/>
              </a:ext>
            </a:extLst>
          </p:cNvPr>
          <p:cNvSpPr/>
          <p:nvPr/>
        </p:nvSpPr>
        <p:spPr>
          <a:xfrm>
            <a:off x="1951182" y="31449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92850E6-B14E-452D-BFCB-3F0AD0A03B6F}"/>
              </a:ext>
            </a:extLst>
          </p:cNvPr>
          <p:cNvSpPr/>
          <p:nvPr/>
        </p:nvSpPr>
        <p:spPr>
          <a:xfrm>
            <a:off x="5358819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CD3FEC-B659-46A8-A802-91C7E95D5F36}"/>
              </a:ext>
            </a:extLst>
          </p:cNvPr>
          <p:cNvSpPr txBox="1"/>
          <p:nvPr/>
        </p:nvSpPr>
        <p:spPr>
          <a:xfrm>
            <a:off x="982715" y="4789329"/>
            <a:ext cx="4560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MRV: Choose the variable with the fewest “legal” values. (</a:t>
            </a:r>
            <a:r>
              <a:rPr lang="en-US" altLang="zh-CN" dirty="0">
                <a:solidFill>
                  <a:srgbClr val="FF0000"/>
                </a:solidFill>
              </a:rPr>
              <a:t>Choose variable</a:t>
            </a:r>
            <a:r>
              <a:rPr lang="en-US" altLang="zh-C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LCV: Leave the maximum flexibility for subsequent variable assignments. (</a:t>
            </a:r>
            <a:r>
              <a:rPr lang="en-US" altLang="zh-CN" dirty="0">
                <a:solidFill>
                  <a:srgbClr val="FF0000"/>
                </a:solidFill>
              </a:rPr>
              <a:t>Assign value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E84ACA-B537-48B9-A07D-163DE9703641}"/>
              </a:ext>
            </a:extLst>
          </p:cNvPr>
          <p:cNvSpPr/>
          <p:nvPr/>
        </p:nvSpPr>
        <p:spPr>
          <a:xfrm>
            <a:off x="4950691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29765D1-1155-4F0C-B682-7A94549459D6}"/>
              </a:ext>
            </a:extLst>
          </p:cNvPr>
          <p:cNvSpPr/>
          <p:nvPr/>
        </p:nvSpPr>
        <p:spPr>
          <a:xfrm>
            <a:off x="1946958" y="3713018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8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3609653-B421-4276-8FD2-87763AFD8737}"/>
              </a:ext>
            </a:extLst>
          </p:cNvPr>
          <p:cNvSpPr/>
          <p:nvPr/>
        </p:nvSpPr>
        <p:spPr>
          <a:xfrm>
            <a:off x="3581400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0D716E-1E2D-4E06-B09A-B14EF3C19E4C}"/>
              </a:ext>
            </a:extLst>
          </p:cNvPr>
          <p:cNvSpPr/>
          <p:nvPr/>
        </p:nvSpPr>
        <p:spPr>
          <a:xfrm>
            <a:off x="1447407" y="3136804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95EFB2C-10DA-4082-91F6-13D8C0F4D5FB}"/>
              </a:ext>
            </a:extLst>
          </p:cNvPr>
          <p:cNvSpPr/>
          <p:nvPr/>
        </p:nvSpPr>
        <p:spPr>
          <a:xfrm>
            <a:off x="1449152" y="3415081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7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9A516D9-6EF4-45B9-ACE1-75E93DCDA73B}"/>
              </a:ext>
            </a:extLst>
          </p:cNvPr>
          <p:cNvSpPr/>
          <p:nvPr/>
        </p:nvSpPr>
        <p:spPr>
          <a:xfrm>
            <a:off x="4008582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23B9325-3713-455D-B066-7A64B239ECFB}"/>
              </a:ext>
            </a:extLst>
          </p:cNvPr>
          <p:cNvSpPr/>
          <p:nvPr/>
        </p:nvSpPr>
        <p:spPr>
          <a:xfrm>
            <a:off x="1698620" y="3711283"/>
            <a:ext cx="258618" cy="258618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9115D30-9BF0-40A6-AB08-F238D3DCE1DF}"/>
              </a:ext>
            </a:extLst>
          </p:cNvPr>
          <p:cNvSpPr/>
          <p:nvPr/>
        </p:nvSpPr>
        <p:spPr>
          <a:xfrm>
            <a:off x="3110346" y="3068781"/>
            <a:ext cx="369454" cy="34174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8AD5B0F-2837-4764-B841-A6B5A5A0F777}"/>
              </a:ext>
            </a:extLst>
          </p:cNvPr>
          <p:cNvSpPr/>
          <p:nvPr/>
        </p:nvSpPr>
        <p:spPr>
          <a:xfrm>
            <a:off x="4416710" y="3087254"/>
            <a:ext cx="369454" cy="341746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58C788-49E7-4E4D-A4E8-D3FBDF3CE987}"/>
              </a:ext>
            </a:extLst>
          </p:cNvPr>
          <p:cNvSpPr/>
          <p:nvPr/>
        </p:nvSpPr>
        <p:spPr>
          <a:xfrm>
            <a:off x="1706025" y="3139230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2CF9964-1A0F-442B-A612-7B0C1C7A28BA}"/>
              </a:ext>
            </a:extLst>
          </p:cNvPr>
          <p:cNvSpPr/>
          <p:nvPr/>
        </p:nvSpPr>
        <p:spPr>
          <a:xfrm>
            <a:off x="1706025" y="3415949"/>
            <a:ext cx="258618" cy="258618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5500D7-9576-4A6E-8414-10272DAEA071}"/>
              </a:ext>
            </a:extLst>
          </p:cNvPr>
          <p:cNvSpPr txBox="1"/>
          <p:nvPr/>
        </p:nvSpPr>
        <p:spPr>
          <a:xfrm>
            <a:off x="1447407" y="4154875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Done!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36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5C57F0-9512-4333-9B9D-A8D2CB77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531F1C5-5FEB-422A-BED5-41476294D138}"/>
                  </a:ext>
                </a:extLst>
              </p:cNvPr>
              <p:cNvSpPr txBox="1"/>
              <p:nvPr/>
            </p:nvSpPr>
            <p:spPr>
              <a:xfrm>
                <a:off x="7239000" y="3862923"/>
                <a:ext cx="4751411" cy="2629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Recall AC-3 algorithm: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Initialize a search queue with all arcs.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Pop the nodes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) of the leading arc, revise their domain and check validity.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The algorithm fails if one domain is empty.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For all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excluding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dirty="0"/>
                  <a:t>, enqueue new arcs linking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, if revised.</a:t>
                </a:r>
              </a:p>
              <a:p>
                <a:pPr marL="342900" indent="-342900">
                  <a:buAutoNum type="arabicPeriod"/>
                </a:pPr>
                <a:r>
                  <a:rPr lang="en-US" altLang="zh-CN" dirty="0"/>
                  <a:t>Repeat until the queue is empty.</a:t>
                </a:r>
              </a:p>
              <a:p>
                <a:pPr marL="342900" indent="-342900">
                  <a:buAutoNum type="arabicPeriod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531F1C5-5FEB-422A-BED5-41476294D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3862923"/>
                <a:ext cx="4751411" cy="2629951"/>
              </a:xfrm>
              <a:prstGeom prst="rect">
                <a:avLst/>
              </a:prstGeom>
              <a:blipFill>
                <a:blip r:embed="rId4"/>
                <a:stretch>
                  <a:fillRect l="-1155" t="-1392" r="-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本框 31">
            <a:extLst>
              <a:ext uri="{FF2B5EF4-FFF2-40B4-BE49-F238E27FC236}">
                <a16:creationId xmlns:a16="http://schemas.microsoft.com/office/drawing/2014/main" id="{EE71380A-2B44-4EDF-87BC-3A6F341B4A4B}"/>
              </a:ext>
            </a:extLst>
          </p:cNvPr>
          <p:cNvSpPr txBox="1"/>
          <p:nvPr/>
        </p:nvSpPr>
        <p:spPr>
          <a:xfrm>
            <a:off x="7239000" y="1535781"/>
            <a:ext cx="4138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Essential AC-3: a graph traversal algorithm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C0A301B-EBAC-416E-9D03-A014E0C841D9}"/>
              </a:ext>
            </a:extLst>
          </p:cNvPr>
          <p:cNvSpPr txBox="1"/>
          <p:nvPr/>
        </p:nvSpPr>
        <p:spPr>
          <a:xfrm>
            <a:off x="7239000" y="1955979"/>
            <a:ext cx="258320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Graph to be visited: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Vertices: arcs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Edges: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Consider DFS &amp; BFS?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DFS: backtracking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BFS: AC-3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8274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65C57F0-9512-4333-9B9D-A8D2CB770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E3E7E9A-AF81-4B7A-9848-26F13D279DEC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BEE34F2-C593-4086-99B6-ADC445A887EA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02FAC8C-C910-4127-9039-2540233A71E1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829245A-3635-4BFB-8D04-7A872963CFB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D9ADD4E-DA53-4477-B6FA-8E616432318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33964D2-F02C-41E3-A8E3-C7A2E2155FEA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E76D60B-2E92-4F0A-AC5F-22ACC3FFB67C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51508A0-6BCA-4D6C-B307-EB457EBD22D5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F9712CE-815C-4AB2-9EA6-6B634ECE85EA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191195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Initialize a queue with all arcs.</a:t>
                </a:r>
              </a:p>
              <a:p>
                <a:r>
                  <a:rPr lang="en-US" altLang="zh-CN" dirty="0"/>
                  <a:t>Domain initialized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Partial assignment: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altLang="zh-CN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Queue: [1,2,3,4,5,6,7,8,9]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191195" cy="2031325"/>
              </a:xfrm>
              <a:prstGeom prst="rect">
                <a:avLst/>
              </a:prstGeom>
              <a:blipFill>
                <a:blip r:embed="rId4"/>
                <a:stretch>
                  <a:fillRect l="-1721" t="-1802" r="-956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组合 47">
            <a:extLst>
              <a:ext uri="{FF2B5EF4-FFF2-40B4-BE49-F238E27FC236}">
                <a16:creationId xmlns:a16="http://schemas.microsoft.com/office/drawing/2014/main" id="{0A730914-7A0C-490C-8CED-460FA3CC6659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D13CCB27-0BBD-4F5D-9015-8442AEDC4B13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5A4CB715-B260-4F2A-9287-42E953165771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FE17C56E-4185-4550-9A0D-720B60B800C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6247C30C-B126-495C-9945-CCA99F211C89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C40F220E-8D44-4CBC-BAA7-D867E5542DFE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F5F5769C-9EE0-47A2-9E0B-74E3EABD35B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2416A70A-E208-40E7-A2DA-09AB172A6D58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11D8D61-8C9D-44D8-B413-DB475299FC7F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BE858B4-0BC0-49D0-A4F6-EF2ED9A51B12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801F9D5E-0E18-48BF-89F7-4CE0A0A64AD9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FF67AD6-A9AE-4CB5-9AEB-D1FCE47319E5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28BBEEDC-AB6E-40E4-BE15-6854EA79D491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07134982-C0D0-4A80-901F-D7392D3EDF6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24158FC4-EDBB-4C7D-B24F-8B8372434B8D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700E2975-4058-4651-9C7D-85865546A7A7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7C0499F-A905-4EBF-991A-EFCB4DBECAB6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73411BE-D2D0-43C4-994A-9DB19A2BBC5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762C438B-794E-422A-B5F9-80412F25F97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7192EE39-11B4-4D5A-A136-7A667A4662BF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1" name="矩形 70">
            <a:extLst>
              <a:ext uri="{FF2B5EF4-FFF2-40B4-BE49-F238E27FC236}">
                <a16:creationId xmlns:a16="http://schemas.microsoft.com/office/drawing/2014/main" id="{92A86C9E-BFB2-4D8D-90EB-8642412023E8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F4FE8119-3DB1-441B-A6B3-495E269F99EC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033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471335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1.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[2,3,4,5,6,7,8,9]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3, 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[2,3,4,5,6,7,8,9]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3,4</a:t>
                </a:r>
                <a:endParaRPr lang="en-US" altLang="zh-CN" dirty="0">
                  <a:solidFill>
                    <a:srgbClr val="FF00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471335" cy="2862322"/>
              </a:xfrm>
              <a:prstGeom prst="rect">
                <a:avLst/>
              </a:prstGeom>
              <a:blipFill>
                <a:blip r:embed="rId3"/>
                <a:stretch>
                  <a:fillRect l="-1582" t="-1279" r="-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9C0E9879-102F-43E3-BF90-26F6F8C91144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V="1">
            <a:off x="4461164" y="2958325"/>
            <a:ext cx="646335" cy="25593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642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558988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2.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[3,4,5,6,7,8,9,3,4]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3,5,6,7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[3,4,5,6,7,8,9,3,4]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3,5,6,7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558988" cy="2585323"/>
              </a:xfrm>
              <a:prstGeom prst="rect">
                <a:avLst/>
              </a:prstGeom>
              <a:blipFill>
                <a:blip r:embed="rId3"/>
                <a:stretch>
                  <a:fillRect l="-1544" t="-1415" r="-343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4433455" y="3336611"/>
            <a:ext cx="682752" cy="2836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183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55898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3.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[4,5,6,7,8,9,3,4,3,5,6,7]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558988" cy="1754326"/>
              </a:xfrm>
              <a:prstGeom prst="rect">
                <a:avLst/>
              </a:prstGeom>
              <a:blipFill>
                <a:blip r:embed="rId3"/>
                <a:stretch>
                  <a:fillRect l="-1544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227043" y="3066350"/>
            <a:ext cx="94448" cy="4004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825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384260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4.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4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[5,6,7,8,9,3,4,3,5,6,7]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384260" cy="1754326"/>
              </a:xfrm>
              <a:prstGeom prst="rect">
                <a:avLst/>
              </a:prstGeom>
              <a:blipFill>
                <a:blip r:embed="rId3"/>
                <a:stretch>
                  <a:fillRect l="-1622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448715" y="2881745"/>
            <a:ext cx="617784" cy="11741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431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20953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5.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5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[6,7,8,9,3,4,3,5,6,7]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209533" cy="1754326"/>
              </a:xfrm>
              <a:prstGeom prst="rect">
                <a:avLst/>
              </a:prstGeom>
              <a:blipFill>
                <a:blip r:embed="rId3"/>
                <a:stretch>
                  <a:fillRect l="-1711" t="-2091" r="-133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V="1">
            <a:off x="5448715" y="3097493"/>
            <a:ext cx="617784" cy="5227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671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58110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6.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6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[7,8,9,3,4,3,5,6,7]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581109" cy="1754326"/>
              </a:xfrm>
              <a:prstGeom prst="rect">
                <a:avLst/>
              </a:prstGeom>
              <a:blipFill>
                <a:blip r:embed="rId3"/>
                <a:stretch>
                  <a:fillRect l="-1533" t="-2091" r="-51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E6D9B174-0044-4F83-91C5-AFEF455AC5E8}"/>
              </a:ext>
            </a:extLst>
          </p:cNvPr>
          <p:cNvGrpSpPr/>
          <p:nvPr/>
        </p:nvGrpSpPr>
        <p:grpSpPr>
          <a:xfrm>
            <a:off x="5116207" y="3896257"/>
            <a:ext cx="332508" cy="110836"/>
            <a:chOff x="7924800" y="5357091"/>
            <a:chExt cx="332508" cy="11083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87C71949-86C7-4D18-9301-649B2D241A49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06EA32C6-3FA4-4A95-9883-1EE9B107F58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494041" y="3705943"/>
            <a:ext cx="7874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906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384260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7.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[8,9,3,4,3,5,6,7]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2,3,5,6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[8,9,3,4,3,5,6,7]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2,3,5,6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384260" cy="2585323"/>
              </a:xfrm>
              <a:prstGeom prst="rect">
                <a:avLst/>
              </a:prstGeom>
              <a:blipFill>
                <a:blip r:embed="rId3"/>
                <a:stretch>
                  <a:fillRect l="-1622" t="-1415" r="-360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697960" y="3620223"/>
            <a:ext cx="332508" cy="110836"/>
            <a:chOff x="7924800" y="5357091"/>
            <a:chExt cx="332508" cy="110836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EED2650E-4C2B-4C97-B54B-195DA37AD1C6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476794" y="3791651"/>
            <a:ext cx="452529" cy="2154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862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733714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8.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8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[9,3,4,3,5,6,7,2,3,5,6]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9,6,8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[9,3,4,3,5,6,7,2,3,5,6]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9,6,8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733714" cy="2585323"/>
              </a:xfrm>
              <a:prstGeom prst="rect">
                <a:avLst/>
              </a:prstGeom>
              <a:blipFill>
                <a:blip r:embed="rId3"/>
                <a:stretch>
                  <a:fillRect l="-1471" t="-1415" r="-327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>
            <a:off x="6177335" y="3791651"/>
            <a:ext cx="158904" cy="2154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8179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733714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9.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[3,4,3,5,6,7,2,3,5,6,9,6,8]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733714" cy="1754326"/>
              </a:xfrm>
              <a:prstGeom prst="rect">
                <a:avLst/>
              </a:prstGeom>
              <a:blipFill>
                <a:blip r:embed="rId3"/>
                <a:stretch>
                  <a:fillRect l="-1471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540F3E67-8289-4C59-A133-4E8F04D53B32}"/>
              </a:ext>
            </a:extLst>
          </p:cNvPr>
          <p:cNvGrpSpPr/>
          <p:nvPr/>
        </p:nvGrpSpPr>
        <p:grpSpPr>
          <a:xfrm>
            <a:off x="5107499" y="2518996"/>
            <a:ext cx="332508" cy="110836"/>
            <a:chOff x="7924800" y="5357091"/>
            <a:chExt cx="332508" cy="11083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B1168B3E-289A-479C-9B08-A60BB871E3AF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0C67D96-8C3B-4DA8-A8AC-FFB26DB231CC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 flipV="1">
            <a:off x="6281455" y="3195783"/>
            <a:ext cx="168006" cy="35098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3700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733714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3.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[4,3,5,6,7,2,3,5,6,9,6,8]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1,4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[4,3,5,6,7,2,3,5,6,9,6,8]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1,4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733714" cy="2585323"/>
              </a:xfrm>
              <a:prstGeom prst="rect">
                <a:avLst/>
              </a:prstGeom>
              <a:blipFill>
                <a:blip r:embed="rId3"/>
                <a:stretch>
                  <a:fillRect l="-1471" t="-1415" r="-327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116953" y="2681557"/>
            <a:ext cx="332508" cy="110836"/>
            <a:chOff x="7924800" y="5357091"/>
            <a:chExt cx="332508" cy="110836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D5D5114C-6353-4F52-B1FE-CB0919B39137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 flipV="1">
            <a:off x="5218335" y="2999164"/>
            <a:ext cx="103158" cy="5383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969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908442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4.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4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[3,5,6,7,2,3,5,6,9,6,8,1,4]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5,9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[3,5,6,7,2,3,5,6,9,6,8,1,4]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5,9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908442" cy="2585323"/>
              </a:xfrm>
              <a:prstGeom prst="rect">
                <a:avLst/>
              </a:prstGeom>
              <a:blipFill>
                <a:blip r:embed="rId3"/>
                <a:stretch>
                  <a:fillRect l="-1404" t="-1415" r="-312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227789" y="2681557"/>
            <a:ext cx="221672" cy="110836"/>
            <a:chOff x="8035636" y="5357091"/>
            <a:chExt cx="221672" cy="110836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 flipV="1">
            <a:off x="5440007" y="2872510"/>
            <a:ext cx="626492" cy="12665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4134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90844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3.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[5,6,7,2,3,5,6,9,6,8,1,4,5,9]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908442" cy="1754326"/>
              </a:xfrm>
              <a:prstGeom prst="rect">
                <a:avLst/>
              </a:prstGeom>
              <a:blipFill>
                <a:blip r:embed="rId3"/>
                <a:stretch>
                  <a:fillRect l="-1404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AC4BA0A6-CFD0-4A1A-AF70-2D6928ECB568}"/>
              </a:ext>
            </a:extLst>
          </p:cNvPr>
          <p:cNvGrpSpPr/>
          <p:nvPr/>
        </p:nvGrpSpPr>
        <p:grpSpPr>
          <a:xfrm>
            <a:off x="6227789" y="2681557"/>
            <a:ext cx="221672" cy="110836"/>
            <a:chOff x="8035636" y="5357091"/>
            <a:chExt cx="221672" cy="110836"/>
          </a:xfrm>
        </p:grpSpPr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7EB42667-6DCC-4E17-B0B2-2AC90BDA8FB2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A0076AF6-1A42-4B3B-BEC3-67A583D93450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 flipV="1">
            <a:off x="5218335" y="2999164"/>
            <a:ext cx="103156" cy="4676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519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908442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5.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5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[6,7,2,3,5,6,9,6,8,1,4,5,9]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4, 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[6,7,2,3,5,6,9,6,8,1,4,5,9]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4,9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908442" cy="2585323"/>
              </a:xfrm>
              <a:prstGeom prst="rect">
                <a:avLst/>
              </a:prstGeom>
              <a:blipFill>
                <a:blip r:embed="rId3"/>
                <a:stretch>
                  <a:fillRect l="-1404" t="-1415" r="-312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D210040C-BFE7-4092-9BE3-F98B75A80589}"/>
              </a:ext>
            </a:extLst>
          </p:cNvPr>
          <p:cNvGrpSpPr/>
          <p:nvPr/>
        </p:nvGrpSpPr>
        <p:grpSpPr>
          <a:xfrm>
            <a:off x="6808796" y="3620223"/>
            <a:ext cx="221672" cy="110836"/>
            <a:chOff x="8035636" y="5357091"/>
            <a:chExt cx="221672" cy="11083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41F9B14B-626F-4B32-8EC2-C94258CF1126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FFB0CF51-66D6-4FA3-97F8-886290AAD89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V="1">
            <a:off x="5448715" y="3097495"/>
            <a:ext cx="647285" cy="52272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324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4200189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6.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6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[7,2,3,5,6,9,6,8,1,4,5,9,4,9]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Enqueue 8,9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Queue: [7,2,3,5,6,9,6,8,1,4,5,9,4,9] </a:t>
                </a:r>
                <a:r>
                  <a:rPr lang="en-US" altLang="zh-CN" dirty="0">
                    <a:sym typeface="Wingdings" panose="05000000000000000000" pitchFamily="2" charset="2"/>
                  </a:rPr>
                  <a:t> </a:t>
                </a:r>
                <a:r>
                  <a:rPr lang="en-US" altLang="zh-CN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8,9</a:t>
                </a:r>
                <a:endParaRPr lang="en-US" altLang="zh-CN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4200189" cy="2585323"/>
              </a:xfrm>
              <a:prstGeom prst="rect">
                <a:avLst/>
              </a:prstGeom>
              <a:blipFill>
                <a:blip r:embed="rId3"/>
                <a:stretch>
                  <a:fillRect l="-1306" t="-1415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476794" y="3705943"/>
            <a:ext cx="8046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8111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408316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7.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7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[2,3,5,6,9,6,8,1,4,5,9,4,9,8,9]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4083169" cy="1754326"/>
              </a:xfrm>
              <a:prstGeom prst="rect">
                <a:avLst/>
              </a:prstGeom>
              <a:blipFill>
                <a:blip r:embed="rId3"/>
                <a:stretch>
                  <a:fillRect l="-1345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476794" y="3791651"/>
            <a:ext cx="452529" cy="21544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707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908442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2.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2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[3,5,6,9,6,8,1,4,5,9,4,9,8,9]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𝑊𝐴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908442" cy="1754326"/>
              </a:xfrm>
              <a:prstGeom prst="rect">
                <a:avLst/>
              </a:prstGeom>
              <a:blipFill>
                <a:blip r:embed="rId3"/>
                <a:stretch>
                  <a:fillRect l="-1404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4450314" y="3336611"/>
            <a:ext cx="686686" cy="27037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809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733714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3.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3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[5,6,9,6,8,1,4,5,9,4,9,8,9]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𝑁𝑇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733714" cy="1754326"/>
              </a:xfrm>
              <a:prstGeom prst="rect">
                <a:avLst/>
              </a:prstGeom>
              <a:blipFill>
                <a:blip r:embed="rId3"/>
                <a:stretch>
                  <a:fillRect l="-1471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>
            <a:off x="5218335" y="2999164"/>
            <a:ext cx="103157" cy="46766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2582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558988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5.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5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[6,9,6,8,1,4,5,9,4,9,8,9]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558988" cy="1754326"/>
              </a:xfrm>
              <a:prstGeom prst="rect">
                <a:avLst/>
              </a:prstGeom>
              <a:blipFill>
                <a:blip r:embed="rId3"/>
                <a:stretch>
                  <a:fillRect l="-1544" t="-209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>
            <a:off x="5476794" y="3097493"/>
            <a:ext cx="619206" cy="44927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4352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581109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6.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6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[9,6,8,1,4,5,9,4,9,8,9]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𝑆𝐴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No revision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581109" cy="1754326"/>
              </a:xfrm>
              <a:prstGeom prst="rect">
                <a:avLst/>
              </a:prstGeom>
              <a:blipFill>
                <a:blip r:embed="rId3"/>
                <a:stretch>
                  <a:fillRect l="-1533" t="-2091" r="-511" b="-4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EB42667-6DCC-4E17-B0B2-2AC90BDA8FB2}"/>
              </a:ext>
            </a:extLst>
          </p:cNvPr>
          <p:cNvSpPr/>
          <p:nvPr/>
        </p:nvSpPr>
        <p:spPr>
          <a:xfrm>
            <a:off x="6227789" y="2681557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>
            <a:off x="5476794" y="3705943"/>
            <a:ext cx="8113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0890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F989033-DB99-4CC2-B34F-C0467486214A}"/>
              </a:ext>
            </a:extLst>
          </p:cNvPr>
          <p:cNvSpPr txBox="1"/>
          <p:nvPr/>
        </p:nvSpPr>
        <p:spPr>
          <a:xfrm>
            <a:off x="7239000" y="1364442"/>
            <a:ext cx="33516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Encode the arcs with number 1-9.</a:t>
            </a:r>
          </a:p>
          <a:p>
            <a:r>
              <a:rPr lang="en-US" altLang="zh-CN" dirty="0"/>
              <a:t>Let’s start AC-3.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/>
              <p:nvPr/>
            </p:nvSpPr>
            <p:spPr>
              <a:xfrm>
                <a:off x="7239491" y="2411608"/>
                <a:ext cx="3473387" cy="2585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Pop arc 9.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Queue: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9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ym typeface="Wingdings" panose="05000000000000000000" pitchFamily="2" charset="2"/>
                  </a:rPr>
                  <a:t></a:t>
                </a:r>
                <a:r>
                  <a:rPr lang="en-US" altLang="zh-CN" dirty="0"/>
                  <a:t> [6,8,1,4,5,9,4,9,8,9]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Revise and check nodes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𝑁𝑆𝑊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/>
                  <a:t>, find inconsistency!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Done!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B98E5F4B-3CA6-452D-A3A9-3605000D4E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491" y="2411608"/>
                <a:ext cx="3473387" cy="2585323"/>
              </a:xfrm>
              <a:prstGeom prst="rect">
                <a:avLst/>
              </a:prstGeom>
              <a:blipFill>
                <a:blip r:embed="rId3"/>
                <a:stretch>
                  <a:fillRect l="-1582" t="-1415" r="-703" b="-28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图片 18">
            <a:extLst>
              <a:ext uri="{FF2B5EF4-FFF2-40B4-BE49-F238E27FC236}">
                <a16:creationId xmlns:a16="http://schemas.microsoft.com/office/drawing/2014/main" id="{6372B399-426E-45A4-8B1F-01F3053EC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77" y="2010773"/>
            <a:ext cx="6066046" cy="3711262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93FD4DB-8F5B-48E5-8DA9-CAF07FB575EA}"/>
              </a:ext>
            </a:extLst>
          </p:cNvPr>
          <p:cNvSpPr txBox="1"/>
          <p:nvPr/>
        </p:nvSpPr>
        <p:spPr>
          <a:xfrm>
            <a:off x="4618182" y="26970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536395-02D9-41D7-A06C-B29E0C6BD5F3}"/>
              </a:ext>
            </a:extLst>
          </p:cNvPr>
          <p:cNvSpPr txBox="1"/>
          <p:nvPr/>
        </p:nvSpPr>
        <p:spPr>
          <a:xfrm>
            <a:off x="4618182" y="34223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39F90E-0E06-476B-B741-F20C9EB4099B}"/>
              </a:ext>
            </a:extLst>
          </p:cNvPr>
          <p:cNvSpPr txBox="1"/>
          <p:nvPr/>
        </p:nvSpPr>
        <p:spPr>
          <a:xfrm>
            <a:off x="5019805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2CB37E-F70E-48A9-9E0E-6686BF2871F2}"/>
              </a:ext>
            </a:extLst>
          </p:cNvPr>
          <p:cNvSpPr txBox="1"/>
          <p:nvPr/>
        </p:nvSpPr>
        <p:spPr>
          <a:xfrm>
            <a:off x="5627637" y="26298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95582C4-E88C-4AF4-9A1D-C801481655AD}"/>
              </a:ext>
            </a:extLst>
          </p:cNvPr>
          <p:cNvSpPr txBox="1"/>
          <p:nvPr/>
        </p:nvSpPr>
        <p:spPr>
          <a:xfrm>
            <a:off x="5583896" y="30663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946EF78-304B-4010-A015-4F9C2DB00167}"/>
              </a:ext>
            </a:extLst>
          </p:cNvPr>
          <p:cNvSpPr txBox="1"/>
          <p:nvPr/>
        </p:nvSpPr>
        <p:spPr>
          <a:xfrm>
            <a:off x="5885582" y="33366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70B09A-EBD7-4C59-BF35-D21C43931D49}"/>
              </a:ext>
            </a:extLst>
          </p:cNvPr>
          <p:cNvSpPr txBox="1"/>
          <p:nvPr/>
        </p:nvSpPr>
        <p:spPr>
          <a:xfrm>
            <a:off x="5476794" y="38894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8BCF3DF-FB1F-45DB-855D-DB47A2907B11}"/>
              </a:ext>
            </a:extLst>
          </p:cNvPr>
          <p:cNvSpPr txBox="1"/>
          <p:nvPr/>
        </p:nvSpPr>
        <p:spPr>
          <a:xfrm>
            <a:off x="6187268" y="38664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05179B-7E76-49AC-AF40-11D640188FC3}"/>
              </a:ext>
            </a:extLst>
          </p:cNvPr>
          <p:cNvSpPr txBox="1"/>
          <p:nvPr/>
        </p:nvSpPr>
        <p:spPr>
          <a:xfrm>
            <a:off x="6281454" y="309749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1168B3E-289A-479C-9B08-A60BB871E3AF}"/>
              </a:ext>
            </a:extLst>
          </p:cNvPr>
          <p:cNvSpPr/>
          <p:nvPr/>
        </p:nvSpPr>
        <p:spPr>
          <a:xfrm>
            <a:off x="5107499" y="2518996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6EA32C6-3FA4-4A95-9883-1EE9B107F580}"/>
              </a:ext>
            </a:extLst>
          </p:cNvPr>
          <p:cNvSpPr/>
          <p:nvPr/>
        </p:nvSpPr>
        <p:spPr>
          <a:xfrm>
            <a:off x="5337879" y="3896257"/>
            <a:ext cx="110836" cy="11083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F9B14B-626F-4B32-8EC2-C94258CF1126}"/>
              </a:ext>
            </a:extLst>
          </p:cNvPr>
          <p:cNvSpPr/>
          <p:nvPr/>
        </p:nvSpPr>
        <p:spPr>
          <a:xfrm>
            <a:off x="6808796" y="3620223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FFFA3B3D-919E-4EB0-B25C-D1BA3CCE32B4}"/>
              </a:ext>
            </a:extLst>
          </p:cNvPr>
          <p:cNvGrpSpPr/>
          <p:nvPr/>
        </p:nvGrpSpPr>
        <p:grpSpPr>
          <a:xfrm>
            <a:off x="5955663" y="4923467"/>
            <a:ext cx="332508" cy="110836"/>
            <a:chOff x="7924800" y="5357091"/>
            <a:chExt cx="332508" cy="11083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8F284177-BDCF-4BF5-BA0C-749B54BF2CCD}"/>
                </a:ext>
              </a:extLst>
            </p:cNvPr>
            <p:cNvSpPr/>
            <p:nvPr/>
          </p:nvSpPr>
          <p:spPr>
            <a:xfrm>
              <a:off x="7924800" y="5357091"/>
              <a:ext cx="110836" cy="11083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8DD0BDFD-E888-4774-8684-155ACD541950}"/>
                </a:ext>
              </a:extLst>
            </p:cNvPr>
            <p:cNvSpPr/>
            <p:nvPr/>
          </p:nvSpPr>
          <p:spPr>
            <a:xfrm>
              <a:off x="8035636" y="5357091"/>
              <a:ext cx="110836" cy="110836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6AA22784-8042-454F-B984-8E6947451E54}"/>
                </a:ext>
              </a:extLst>
            </p:cNvPr>
            <p:cNvSpPr/>
            <p:nvPr/>
          </p:nvSpPr>
          <p:spPr>
            <a:xfrm>
              <a:off x="8146472" y="5357091"/>
              <a:ext cx="110836" cy="11083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0" name="矩形 59">
            <a:extLst>
              <a:ext uri="{FF2B5EF4-FFF2-40B4-BE49-F238E27FC236}">
                <a16:creationId xmlns:a16="http://schemas.microsoft.com/office/drawing/2014/main" id="{77D9EFCF-4185-43C8-AA6B-030EC5095DAD}"/>
              </a:ext>
            </a:extLst>
          </p:cNvPr>
          <p:cNvSpPr/>
          <p:nvPr/>
        </p:nvSpPr>
        <p:spPr>
          <a:xfrm>
            <a:off x="6225403" y="4270011"/>
            <a:ext cx="110836" cy="1108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ECBB5AE9-0F51-4875-AAC6-7B0724F11130}"/>
              </a:ext>
            </a:extLst>
          </p:cNvPr>
          <p:cNvSpPr/>
          <p:nvPr/>
        </p:nvSpPr>
        <p:spPr>
          <a:xfrm>
            <a:off x="4007803" y="2958325"/>
            <a:ext cx="110836" cy="11083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F73D5F7-7CA7-401B-A427-FD76363F0E1E}"/>
              </a:ext>
            </a:extLst>
          </p:cNvPr>
          <p:cNvCxnSpPr>
            <a:cxnSpLocks/>
          </p:cNvCxnSpPr>
          <p:nvPr/>
        </p:nvCxnSpPr>
        <p:spPr>
          <a:xfrm flipH="1" flipV="1">
            <a:off x="6281454" y="3232727"/>
            <a:ext cx="128582" cy="3140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603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627634-9B9C-4D70-B17E-2022D3DAB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3240D-8984-4295-96A5-0C0C20F61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46"/>
            <a:ext cx="10515600" cy="4621117"/>
          </a:xfrm>
        </p:spPr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4E89BF-2457-44EB-94CB-41F7088B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60532F-0160-40E8-B454-6E6702CDE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751C3-7F50-47A6-9FFE-C2B345E0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F339AB-0B4D-44B0-AAC5-C7F9CCAC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00" y="2068859"/>
            <a:ext cx="3749365" cy="1981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4F4A405-2465-4091-A213-B1A7B27DB4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6112108"/>
                  </p:ext>
                </p:extLst>
              </p:nvPr>
            </p:nvGraphicFramePr>
            <p:xfrm>
              <a:off x="5738833" y="2438191"/>
              <a:ext cx="4987638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894147911"/>
                        </a:ext>
                      </a:extLst>
                    </a:gridCol>
                    <a:gridCol w="2493819">
                      <a:extLst>
                        <a:ext uri="{9D8B030D-6E8A-4147-A177-3AD203B41FA5}">
                          <a16:colId xmlns:a16="http://schemas.microsoft.com/office/drawing/2014/main" val="1070370657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Operation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DNF/CNF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2110499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⊨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061086084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91782703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⇔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d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d>
                                  <m:d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¬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∨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7460501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表格 10">
                <a:extLst>
                  <a:ext uri="{FF2B5EF4-FFF2-40B4-BE49-F238E27FC236}">
                    <a16:creationId xmlns:a16="http://schemas.microsoft.com/office/drawing/2014/main" id="{44F4A405-2465-4091-A213-B1A7B27DB4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46112108"/>
                  </p:ext>
                </p:extLst>
              </p:nvPr>
            </p:nvGraphicFramePr>
            <p:xfrm>
              <a:off x="5738833" y="2438191"/>
              <a:ext cx="4987638" cy="14782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93819">
                      <a:extLst>
                        <a:ext uri="{9D8B030D-6E8A-4147-A177-3AD203B41FA5}">
                          <a16:colId xmlns:a16="http://schemas.microsoft.com/office/drawing/2014/main" val="894147911"/>
                        </a:ext>
                      </a:extLst>
                    </a:gridCol>
                    <a:gridCol w="2493819">
                      <a:extLst>
                        <a:ext uri="{9D8B030D-6E8A-4147-A177-3AD203B41FA5}">
                          <a16:colId xmlns:a16="http://schemas.microsoft.com/office/drawing/2014/main" val="1070370657"/>
                        </a:ext>
                      </a:extLst>
                    </a:gridCol>
                  </a:tblGrid>
                  <a:tr h="3695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Operation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/>
                            <a:t>DNF/CNF</a:t>
                          </a:r>
                          <a:endParaRPr lang="zh-CN" alt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62110499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44" t="-106557" r="-100732" b="-2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89" t="-106557" r="-978" b="-2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1086084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44" t="-206557" r="-100732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89" t="-206557" r="-978" b="-1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91782703"/>
                      </a:ext>
                    </a:extLst>
                  </a:tr>
                  <a:tr h="3695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44" t="-306557" r="-100732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489" t="-306557" r="-978" b="-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05013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5A9EA8FC-9134-421A-A464-06DCA8AE5448}"/>
              </a:ext>
            </a:extLst>
          </p:cNvPr>
          <p:cNvSpPr txBox="1"/>
          <p:nvPr/>
        </p:nvSpPr>
        <p:spPr>
          <a:xfrm>
            <a:off x="5738833" y="2068859"/>
            <a:ext cx="3681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Keep in mind the simplification table: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117072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E4A7E-9DB9-44EB-BE64-AEE94E17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1B8B6-DEA0-4698-B6B8-6BE0574D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D3ABF-AFA0-4EAA-89BC-D31EB20C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63D29-FA7A-4416-AB21-71607A91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A75F3-0335-499B-B625-09AD57F0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37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5B89A5-8B5D-43EE-A12F-6AECAAC98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29" y="2106031"/>
            <a:ext cx="6248942" cy="176037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EC2BB42-8080-4E16-9D98-142D3E7D458F}"/>
              </a:ext>
            </a:extLst>
          </p:cNvPr>
          <p:cNvSpPr/>
          <p:nvPr/>
        </p:nvSpPr>
        <p:spPr>
          <a:xfrm>
            <a:off x="1089891" y="2687782"/>
            <a:ext cx="5920509" cy="350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3B2E2B-D2E8-4FB0-8F96-27AEF24F55E3}"/>
              </a:ext>
            </a:extLst>
          </p:cNvPr>
          <p:cNvSpPr txBox="1"/>
          <p:nvPr/>
        </p:nvSpPr>
        <p:spPr>
          <a:xfrm>
            <a:off x="914129" y="3919134"/>
            <a:ext cx="3323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Enumerate with true value table. </a:t>
            </a:r>
            <a:endParaRPr lang="zh-CN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BCD1827A-CC23-4285-9B65-A196B564F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60793"/>
              </p:ext>
            </p:extLst>
          </p:nvPr>
        </p:nvGraphicFramePr>
        <p:xfrm>
          <a:off x="7338833" y="2108340"/>
          <a:ext cx="464100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0251">
                  <a:extLst>
                    <a:ext uri="{9D8B030D-6E8A-4147-A177-3AD203B41FA5}">
                      <a16:colId xmlns:a16="http://schemas.microsoft.com/office/drawing/2014/main" val="3214572445"/>
                    </a:ext>
                  </a:extLst>
                </a:gridCol>
                <a:gridCol w="1160251">
                  <a:extLst>
                    <a:ext uri="{9D8B030D-6E8A-4147-A177-3AD203B41FA5}">
                      <a16:colId xmlns:a16="http://schemas.microsoft.com/office/drawing/2014/main" val="4275372933"/>
                    </a:ext>
                  </a:extLst>
                </a:gridCol>
                <a:gridCol w="1160251">
                  <a:extLst>
                    <a:ext uri="{9D8B030D-6E8A-4147-A177-3AD203B41FA5}">
                      <a16:colId xmlns:a16="http://schemas.microsoft.com/office/drawing/2014/main" val="3759432963"/>
                    </a:ext>
                  </a:extLst>
                </a:gridCol>
                <a:gridCol w="1160251">
                  <a:extLst>
                    <a:ext uri="{9D8B030D-6E8A-4147-A177-3AD203B41FA5}">
                      <a16:colId xmlns:a16="http://schemas.microsoft.com/office/drawing/2014/main" val="1577570111"/>
                    </a:ext>
                  </a:extLst>
                </a:gridCol>
              </a:tblGrid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Food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Party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Drinks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Sentence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640344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9690856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939380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4461794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758630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201764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669902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0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110657"/>
                  </a:ext>
                </a:extLst>
              </a:tr>
              <a:tr h="22923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202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844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E4A7E-9DB9-44EB-BE64-AEE94E17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1B8B6-DEA0-4698-B6B8-6BE0574D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D3ABF-AFA0-4EAA-89BC-D31EB20C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63D29-FA7A-4416-AB21-71607A91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A75F3-0335-499B-B625-09AD57F0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5B89A5-8B5D-43EE-A12F-6AECAAC98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29" y="2106031"/>
            <a:ext cx="6248942" cy="176037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EC2BB42-8080-4E16-9D98-142D3E7D458F}"/>
              </a:ext>
            </a:extLst>
          </p:cNvPr>
          <p:cNvSpPr/>
          <p:nvPr/>
        </p:nvSpPr>
        <p:spPr>
          <a:xfrm>
            <a:off x="1078345" y="3128958"/>
            <a:ext cx="5920509" cy="350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3B2E2B-D2E8-4FB0-8F96-27AEF24F55E3}"/>
              </a:ext>
            </a:extLst>
          </p:cNvPr>
          <p:cNvSpPr txBox="1"/>
          <p:nvPr/>
        </p:nvSpPr>
        <p:spPr>
          <a:xfrm>
            <a:off x="914129" y="3919134"/>
            <a:ext cx="2127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Simplify to CNF/DNF.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7C20003-17AE-4022-A67F-A359E19B82E3}"/>
                  </a:ext>
                </a:extLst>
              </p:cNvPr>
              <p:cNvSpPr txBox="1"/>
              <p:nvPr/>
            </p:nvSpPr>
            <p:spPr>
              <a:xfrm>
                <a:off x="838200" y="4288466"/>
                <a:ext cx="3450753" cy="6819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∨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7C20003-17AE-4022-A67F-A359E19B8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288466"/>
                <a:ext cx="3450753" cy="6819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184ACE-CED8-4B31-B9CE-A00D284E58E4}"/>
                  </a:ext>
                </a:extLst>
              </p:cNvPr>
              <p:cNvSpPr txBox="1"/>
              <p:nvPr/>
            </p:nvSpPr>
            <p:spPr>
              <a:xfrm>
                <a:off x="838200" y="4940052"/>
                <a:ext cx="27071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𝑅𝐻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¬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¬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∨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7E184ACE-CED8-4B31-B9CE-A00D284E5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940052"/>
                <a:ext cx="2707151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90DD087-B61A-41AD-9E6C-BCFB73B221D5}"/>
                  </a:ext>
                </a:extLst>
              </p:cNvPr>
              <p:cNvSpPr txBox="1"/>
              <p:nvPr/>
            </p:nvSpPr>
            <p:spPr>
              <a:xfrm>
                <a:off x="1223561" y="5535681"/>
                <a:ext cx="13571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𝑅𝐻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90DD087-B61A-41AD-9E6C-BCFB73B22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561" y="5535681"/>
                <a:ext cx="135710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C8ED8D5-C060-4C6E-8240-A3E499032A4E}"/>
                  </a:ext>
                </a:extLst>
              </p:cNvPr>
              <p:cNvSpPr txBox="1"/>
              <p:nvPr/>
            </p:nvSpPr>
            <p:spPr>
              <a:xfrm>
                <a:off x="4364882" y="3919134"/>
                <a:ext cx="178779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The sentence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zh-CN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𝑅𝐻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𝐿𝐻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𝑇𝑟𝑢𝑒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𝑣𝑎𝑙𝑖𝑑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2C8ED8D5-C060-4C6E-8240-A3E499032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882" y="3919134"/>
                <a:ext cx="1787797" cy="1477328"/>
              </a:xfrm>
              <a:prstGeom prst="rect">
                <a:avLst/>
              </a:prstGeom>
              <a:blipFill>
                <a:blip r:embed="rId6"/>
                <a:stretch>
                  <a:fillRect l="-2730" t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828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E4A7E-9DB9-44EB-BE64-AEE94E17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E1B8B6-DEA0-4698-B6B8-6BE0574D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8D3ABF-AFA0-4EAA-89BC-D31EB20C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263D29-FA7A-4416-AB21-71607A91F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A75F3-0335-499B-B625-09AD57F0C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39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5B89A5-8B5D-43EE-A12F-6AECAAC98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29" y="2106031"/>
            <a:ext cx="6248942" cy="1760373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EC2BB42-8080-4E16-9D98-142D3E7D458F}"/>
              </a:ext>
            </a:extLst>
          </p:cNvPr>
          <p:cNvSpPr/>
          <p:nvPr/>
        </p:nvSpPr>
        <p:spPr>
          <a:xfrm>
            <a:off x="1078345" y="3498407"/>
            <a:ext cx="5920509" cy="3509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43B2E2B-D2E8-4FB0-8F96-27AEF24F55E3}"/>
              </a:ext>
            </a:extLst>
          </p:cNvPr>
          <p:cNvSpPr txBox="1"/>
          <p:nvPr/>
        </p:nvSpPr>
        <p:spPr>
          <a:xfrm>
            <a:off x="914129" y="3919134"/>
            <a:ext cx="310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We can prove by contradiction.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80C3A2B-9D53-42EC-B62C-B3D5B8396275}"/>
                  </a:ext>
                </a:extLst>
              </p:cNvPr>
              <p:cNvSpPr txBox="1"/>
              <p:nvPr/>
            </p:nvSpPr>
            <p:spPr>
              <a:xfrm>
                <a:off x="914129" y="4341196"/>
                <a:ext cx="9006055" cy="1650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b="0" dirty="0"/>
                  <a:t>Negation of the original sentence: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∨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Simplification: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∨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∧¬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∧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Simplification again: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Each of the three unit clauses resolves in turn against the first clause, leaving an empty clause.</a:t>
                </a:r>
              </a:p>
              <a:p>
                <a:r>
                  <a:rPr lang="en-US" altLang="zh-CN" dirty="0"/>
                  <a:t>Thus, the negation of the original sentence is false, that is, the original sentence is true.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980C3A2B-9D53-42EC-B62C-B3D5B8396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129" y="4341196"/>
                <a:ext cx="9006055" cy="1650516"/>
              </a:xfrm>
              <a:prstGeom prst="rect">
                <a:avLst/>
              </a:prstGeom>
              <a:blipFill>
                <a:blip r:embed="rId3"/>
                <a:stretch>
                  <a:fillRect l="-609" b="-4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49977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1D0CB1-4B51-4860-B35E-BB5029DF9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70" y="2019421"/>
            <a:ext cx="4815985" cy="20561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26B40E-A7CE-4AF1-A1DC-B6786EBAA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469" y="2019421"/>
            <a:ext cx="6050804" cy="125740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16DBA3C-4514-47B7-877C-5BB512D52FF5}"/>
              </a:ext>
            </a:extLst>
          </p:cNvPr>
          <p:cNvSpPr/>
          <p:nvPr/>
        </p:nvSpPr>
        <p:spPr>
          <a:xfrm>
            <a:off x="6096000" y="2235200"/>
            <a:ext cx="5911273" cy="4248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B308207-8437-454A-BAA7-CE85F143F97C}"/>
                  </a:ext>
                </a:extLst>
              </p:cNvPr>
              <p:cNvSpPr txBox="1"/>
              <p:nvPr/>
            </p:nvSpPr>
            <p:spPr>
              <a:xfrm>
                <a:off x="1039870" y="4191581"/>
                <a:ext cx="6777368" cy="14776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Numerical semantics: Try to prove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What we have: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dirty="0"/>
                  <a:t>What can we use: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Compute the probabilities and prove the independent assumption.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B308207-8437-454A-BAA7-CE85F143F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70" y="4191581"/>
                <a:ext cx="6777368" cy="1477649"/>
              </a:xfrm>
              <a:prstGeom prst="rect">
                <a:avLst/>
              </a:prstGeom>
              <a:blipFill>
                <a:blip r:embed="rId4"/>
                <a:stretch>
                  <a:fillRect l="-810" t="-2479" b="-86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B05C5C-6DE8-4C78-8127-452CEC62FD21}"/>
                  </a:ext>
                </a:extLst>
              </p:cNvPr>
              <p:cNvSpPr txBox="1"/>
              <p:nvPr/>
            </p:nvSpPr>
            <p:spPr>
              <a:xfrm>
                <a:off x="8580741" y="4191581"/>
                <a:ext cx="30275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Topological semantics:</a:t>
                </a: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and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are d-separated by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A3B05C5C-6DE8-4C78-8127-452CEC62F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0741" y="4191581"/>
                <a:ext cx="3027560" cy="646331"/>
              </a:xfrm>
              <a:prstGeom prst="rect">
                <a:avLst/>
              </a:prstGeom>
              <a:blipFill>
                <a:blip r:embed="rId5"/>
                <a:stretch>
                  <a:fillRect l="-1815" t="-5660" r="-1008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0317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1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41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01D0CB1-4B51-4860-B35E-BB5029DF9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70" y="2019421"/>
            <a:ext cx="4815985" cy="20561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626B40E-A7CE-4AF1-A1DC-B6786EBAA2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469" y="2019421"/>
            <a:ext cx="6050804" cy="125740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16DBA3C-4514-47B7-877C-5BB512D52FF5}"/>
              </a:ext>
            </a:extLst>
          </p:cNvPr>
          <p:cNvSpPr/>
          <p:nvPr/>
        </p:nvSpPr>
        <p:spPr>
          <a:xfrm>
            <a:off x="6096000" y="2673143"/>
            <a:ext cx="5911273" cy="6036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B0848A-1A63-40E7-A557-5702599FF031}"/>
                  </a:ext>
                </a:extLst>
              </p:cNvPr>
              <p:cNvSpPr txBox="1"/>
              <p:nvPr/>
            </p:nvSpPr>
            <p:spPr>
              <a:xfrm>
                <a:off x="1039870" y="4387909"/>
                <a:ext cx="436042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Check whether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r>
                  <a:rPr lang="en-US" altLang="zh-CN" dirty="0"/>
                  <a:t>Use Bayesian theorem: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A8B0848A-1A63-40E7-A557-5702599FF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9870" y="4387909"/>
                <a:ext cx="4360424" cy="1477328"/>
              </a:xfrm>
              <a:prstGeom prst="rect">
                <a:avLst/>
              </a:prstGeom>
              <a:blipFill>
                <a:blip r:embed="rId5"/>
                <a:stretch>
                  <a:fillRect l="-1259" t="-2479" r="-280" b="-2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9339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B419E60-1E54-42CC-A504-C89E0AF75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05364"/>
            <a:ext cx="5852667" cy="8687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12313" y="2826327"/>
            <a:ext cx="5989839" cy="535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5B2725-80B2-485D-BF47-8320ABF913BB}"/>
                  </a:ext>
                </a:extLst>
              </p:cNvPr>
              <p:cNvSpPr txBox="1"/>
              <p:nvPr/>
            </p:nvSpPr>
            <p:spPr>
              <a:xfrm>
                <a:off x="838200" y="4077132"/>
                <a:ext cx="7097264" cy="12645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𝑓𝑎𝑡h𝑒𝑟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𝑚𝑜𝑡h𝑒𝑟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𝑐h𝑖𝑙𝑑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𝑓𝑎𝑡h𝑒𝑟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𝑚𝑜𝑡h𝑒𝑟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𝑐h𝑖𝑙𝑑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r>
                  <a:rPr lang="en-US" altLang="zh-CN" dirty="0"/>
                  <a:t>means independency of the three variables.</a:t>
                </a:r>
              </a:p>
              <a:p>
                <a:endParaRPr lang="en-US" altLang="zh-CN" dirty="0"/>
              </a:p>
              <a:p>
                <a:r>
                  <a:rPr lang="en-US" altLang="zh-CN" dirty="0"/>
                  <a:t>(c) is the answer since there are no links among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𝑓𝑎𝑡h𝑒𝑟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𝑚𝑜𝑡h𝑒𝑟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𝑐h𝑖𝑙𝑑</m:t>
                        </m:r>
                      </m:sub>
                    </m:sSub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B5B2725-80B2-485D-BF47-8320ABF91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77132"/>
                <a:ext cx="7097264" cy="1264577"/>
              </a:xfrm>
              <a:prstGeom prst="rect">
                <a:avLst/>
              </a:prstGeom>
              <a:blipFill>
                <a:blip r:embed="rId6"/>
                <a:stretch>
                  <a:fillRect l="-773" b="-5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868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B419E60-1E54-42CC-A504-C89E0AF75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905364"/>
            <a:ext cx="5852667" cy="86875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27413" y="3325091"/>
            <a:ext cx="5989839" cy="4490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2C30BBD-4B7B-4644-88B9-C40485027B1E}"/>
                  </a:ext>
                </a:extLst>
              </p:cNvPr>
              <p:cNvSpPr txBox="1"/>
              <p:nvPr/>
            </p:nvSpPr>
            <p:spPr>
              <a:xfrm>
                <a:off x="838200" y="4084962"/>
                <a:ext cx="627569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The inheritance rule of handedness (assumption):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Controlled by a single gene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all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The actual handedness is the same as the gene.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all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Equally likely inherited from one of the parents. </a:t>
                </a:r>
                <a:r>
                  <a:rPr lang="en-US" altLang="zh-CN" dirty="0">
                    <a:sym typeface="Wingdings" panose="05000000000000000000" pitchFamily="2" charset="2"/>
                  </a:rPr>
                  <a:t> exclude (c)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dirty="0"/>
                  <a:t> to flipping mutation.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r>
                  <a:rPr lang="en-US" altLang="zh-CN" dirty="0"/>
                  <a:t>Therefore, (a) and (b) are consistent with the hypothesis.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2C30BBD-4B7B-4644-88B9-C40485027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84962"/>
                <a:ext cx="6275692" cy="2031325"/>
              </a:xfrm>
              <a:prstGeom prst="rect">
                <a:avLst/>
              </a:prstGeom>
              <a:blipFill>
                <a:blip r:embed="rId6"/>
                <a:stretch>
                  <a:fillRect l="-875" t="-1502" b="-39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5809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2C30BBD-4B7B-4644-88B9-C40485027B1E}"/>
                  </a:ext>
                </a:extLst>
              </p:cNvPr>
              <p:cNvSpPr txBox="1"/>
              <p:nvPr/>
            </p:nvSpPr>
            <p:spPr>
              <a:xfrm>
                <a:off x="838200" y="4084962"/>
                <a:ext cx="5257799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From previous answer, we know that the best network is in (a) and (b).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(a) is the simplest model which is consistent with the hypothesis.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(b) has spurious links among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dirty="0"/>
                  <a:t>. The handedness should only decided by the gene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2C30BBD-4B7B-4644-88B9-C40485027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084962"/>
                <a:ext cx="5257799" cy="1754326"/>
              </a:xfrm>
              <a:prstGeom prst="rect">
                <a:avLst/>
              </a:prstGeom>
              <a:blipFill>
                <a:blip r:embed="rId5"/>
                <a:stretch>
                  <a:fillRect l="-1044" t="-1736" r="-1624" b="-45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A074E224-502A-413D-AFE9-25DA82B5A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797128"/>
            <a:ext cx="5989839" cy="169178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95999" y="2797128"/>
            <a:ext cx="5989839" cy="191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098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45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74E224-502A-413D-AFE9-25DA82B5AA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72068"/>
          <a:stretch/>
        </p:blipFill>
        <p:spPr>
          <a:xfrm>
            <a:off x="6096000" y="2797128"/>
            <a:ext cx="5989839" cy="47254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96000" y="2988530"/>
            <a:ext cx="5989839" cy="1914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90EF6E-1F47-43C9-B4D0-BC92CBDA7D97}"/>
              </a:ext>
            </a:extLst>
          </p:cNvPr>
          <p:cNvSpPr/>
          <p:nvPr/>
        </p:nvSpPr>
        <p:spPr>
          <a:xfrm>
            <a:off x="838200" y="2060660"/>
            <a:ext cx="1646382" cy="1837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B75A72F3-235E-4E81-BEF6-7BA3C89156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9909573"/>
                  </p:ext>
                </p:extLst>
              </p:nvPr>
            </p:nvGraphicFramePr>
            <p:xfrm>
              <a:off x="838200" y="4118810"/>
              <a:ext cx="7478174" cy="18370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5234">
                      <a:extLst>
                        <a:ext uri="{9D8B030D-6E8A-4147-A177-3AD203B41FA5}">
                          <a16:colId xmlns:a16="http://schemas.microsoft.com/office/drawing/2014/main" val="2647695465"/>
                        </a:ext>
                      </a:extLst>
                    </a:gridCol>
                    <a:gridCol w="1025234">
                      <a:extLst>
                        <a:ext uri="{9D8B030D-6E8A-4147-A177-3AD203B41FA5}">
                          <a16:colId xmlns:a16="http://schemas.microsoft.com/office/drawing/2014/main" val="2582290312"/>
                        </a:ext>
                      </a:extLst>
                    </a:gridCol>
                    <a:gridCol w="2713853">
                      <a:extLst>
                        <a:ext uri="{9D8B030D-6E8A-4147-A177-3AD203B41FA5}">
                          <a16:colId xmlns:a16="http://schemas.microsoft.com/office/drawing/2014/main" val="2691074773"/>
                        </a:ext>
                      </a:extLst>
                    </a:gridCol>
                    <a:gridCol w="2713853">
                      <a:extLst>
                        <a:ext uri="{9D8B030D-6E8A-4147-A177-3AD203B41FA5}">
                          <a16:colId xmlns:a16="http://schemas.microsoft.com/office/drawing/2014/main" val="2592881201"/>
                        </a:ext>
                      </a:extLst>
                    </a:gridCol>
                  </a:tblGrid>
                  <a:tr h="6038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𝒎𝒐𝒕𝒉𝒆𝒓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𝒇𝒂𝒕𝒉𝒆𝒓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𝒄𝒉𝒊𝒍𝒅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𝒍</m:t>
                                    </m:r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𝒎𝒐𝒕𝒉𝒆𝒓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𝒇𝒂𝒕𝒉𝒆𝒓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𝒄𝒉𝒊𝒍𝒅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𝒎𝒐𝒕𝒉𝒆𝒓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𝑮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𝒇𝒂𝒕𝒉𝒆𝒓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extLst>
                      <a:ext uri="{0D108BD9-81ED-4DB2-BD59-A6C34878D82A}">
                        <a16:rowId xmlns:a16="http://schemas.microsoft.com/office/drawing/2014/main" val="885231331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extLst>
                      <a:ext uri="{0D108BD9-81ED-4DB2-BD59-A6C34878D82A}">
                        <a16:rowId xmlns:a16="http://schemas.microsoft.com/office/drawing/2014/main" val="1565473529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extLst>
                      <a:ext uri="{0D108BD9-81ED-4DB2-BD59-A6C34878D82A}">
                        <a16:rowId xmlns:a16="http://schemas.microsoft.com/office/drawing/2014/main" val="922038292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extLst>
                      <a:ext uri="{0D108BD9-81ED-4DB2-BD59-A6C34878D82A}">
                        <a16:rowId xmlns:a16="http://schemas.microsoft.com/office/drawing/2014/main" val="1000157863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zh-CN" sz="140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zh-CN" altLang="en-US" sz="1400" dirty="0"/>
                        </a:p>
                      </a:txBody>
                      <a:tcPr marL="76592" marR="76592" marT="38296" marB="38296" anchor="ctr"/>
                    </a:tc>
                    <a:extLst>
                      <a:ext uri="{0D108BD9-81ED-4DB2-BD59-A6C34878D82A}">
                        <a16:rowId xmlns:a16="http://schemas.microsoft.com/office/drawing/2014/main" val="5304091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B75A72F3-235E-4E81-BEF6-7BA3C89156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9909573"/>
                  </p:ext>
                </p:extLst>
              </p:nvPr>
            </p:nvGraphicFramePr>
            <p:xfrm>
              <a:off x="838200" y="4118810"/>
              <a:ext cx="7478174" cy="18370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25234">
                      <a:extLst>
                        <a:ext uri="{9D8B030D-6E8A-4147-A177-3AD203B41FA5}">
                          <a16:colId xmlns:a16="http://schemas.microsoft.com/office/drawing/2014/main" val="2647695465"/>
                        </a:ext>
                      </a:extLst>
                    </a:gridCol>
                    <a:gridCol w="1025234">
                      <a:extLst>
                        <a:ext uri="{9D8B030D-6E8A-4147-A177-3AD203B41FA5}">
                          <a16:colId xmlns:a16="http://schemas.microsoft.com/office/drawing/2014/main" val="2582290312"/>
                        </a:ext>
                      </a:extLst>
                    </a:gridCol>
                    <a:gridCol w="2713853">
                      <a:extLst>
                        <a:ext uri="{9D8B030D-6E8A-4147-A177-3AD203B41FA5}">
                          <a16:colId xmlns:a16="http://schemas.microsoft.com/office/drawing/2014/main" val="2691074773"/>
                        </a:ext>
                      </a:extLst>
                    </a:gridCol>
                    <a:gridCol w="2713853">
                      <a:extLst>
                        <a:ext uri="{9D8B030D-6E8A-4147-A177-3AD203B41FA5}">
                          <a16:colId xmlns:a16="http://schemas.microsoft.com/office/drawing/2014/main" val="2592881201"/>
                        </a:ext>
                      </a:extLst>
                    </a:gridCol>
                  </a:tblGrid>
                  <a:tr h="603847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595" t="-1000" r="-633333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00000" t="-1000" r="-529586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75955" t="-1000" r="-101124" b="-20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75561" t="-1000" r="-897" b="-20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5231331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595" t="-202000" r="-633333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00000" t="-202000" r="-529586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75955" t="-202000" r="-101124" b="-3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75561" t="-202000" r="-897" b="-3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65473529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595" t="-296078" r="-633333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00000" t="-296078" r="-529586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75955" t="-296078" r="-101124" b="-2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75561" t="-296078" r="-897" b="-2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22038292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595" t="-396078" r="-633333" b="-1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00000" t="-396078" r="-529586" b="-1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75955" t="-396078" r="-101124" b="-10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75561" t="-396078" r="-897" b="-10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57863"/>
                      </a:ext>
                    </a:extLst>
                  </a:tr>
                  <a:tr h="30831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595" t="-496078" r="-633333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00000" t="-496078" r="-529586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75955" t="-496078" r="-101124" b="-39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592" marR="76592" marT="38296" marB="38296" anchor="ctr">
                        <a:blipFill>
                          <a:blip r:embed="rId6"/>
                          <a:stretch>
                            <a:fillRect l="-175561" t="-496078" r="-897" b="-3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04091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C56192-A828-454F-8BC5-8DFD20B93836}"/>
                  </a:ext>
                </a:extLst>
              </p:cNvPr>
              <p:cNvSpPr txBox="1"/>
              <p:nvPr/>
            </p:nvSpPr>
            <p:spPr>
              <a:xfrm>
                <a:off x="6012313" y="3320609"/>
                <a:ext cx="43785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0" dirty="0"/>
                  <a:t>Probability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is irrelevant in the CPT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𝑐h𝑖𝑙𝑑</m:t>
                        </m:r>
                      </m:sub>
                    </m:sSub>
                  </m:oMath>
                </a14:m>
                <a:r>
                  <a:rPr lang="en-US" altLang="zh-CN" dirty="0"/>
                  <a:t>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altLang="zh-CN" dirty="0"/>
                  <a:t> only control the process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1C56192-A828-454F-8BC5-8DFD20B93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313" y="3320609"/>
                <a:ext cx="4378596" cy="646331"/>
              </a:xfrm>
              <a:prstGeom prst="rect">
                <a:avLst/>
              </a:prstGeom>
              <a:blipFill>
                <a:blip r:embed="rId7"/>
                <a:stretch>
                  <a:fillRect l="-1113" t="-5660" r="-3616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024C1BC-7722-4C9F-937E-9D10D1B138E5}"/>
                  </a:ext>
                </a:extLst>
              </p:cNvPr>
              <p:cNvSpPr/>
              <p:nvPr/>
            </p:nvSpPr>
            <p:spPr>
              <a:xfrm>
                <a:off x="8398164" y="4132024"/>
                <a:ext cx="3687675" cy="3915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E.g.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𝑚𝑜𝑡h𝑒𝑟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𝑓𝑎𝑡h𝑒𝑟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zh-CN" dirty="0"/>
                  <a:t>,</a:t>
                </a: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5024C1BC-7722-4C9F-937E-9D10D1B138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8164" y="4132024"/>
                <a:ext cx="3687675" cy="391582"/>
              </a:xfrm>
              <a:prstGeom prst="rect">
                <a:avLst/>
              </a:prstGeom>
              <a:blipFill>
                <a:blip r:embed="rId8"/>
                <a:stretch>
                  <a:fillRect l="-1488" t="-7813" b="-20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F72E1D9-CD01-44F7-8327-695C35195C3C}"/>
                  </a:ext>
                </a:extLst>
              </p:cNvPr>
              <p:cNvSpPr txBox="1"/>
              <p:nvPr/>
            </p:nvSpPr>
            <p:spPr>
              <a:xfrm>
                <a:off x="8755513" y="4702993"/>
                <a:ext cx="3218317" cy="965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𝑐h𝑖𝑙𝑑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𝑚𝑜𝑡h𝑒𝑟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𝑓𝑎𝑡h𝑒𝑟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br>
                  <a:rPr lang="en-US" altLang="zh-CN" i="1" dirty="0">
                    <a:latin typeface="Cambria Math" panose="02040503050406030204" pitchFamily="18" charset="0"/>
                  </a:rPr>
                </a:br>
                <a:endParaRPr lang="zh-CN" altLang="en-US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F72E1D9-CD01-44F7-8327-695C35195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513" y="4702993"/>
                <a:ext cx="3218317" cy="96539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914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46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74E224-502A-413D-AFE9-25DA82B5AA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6840"/>
          <a:stretch/>
        </p:blipFill>
        <p:spPr>
          <a:xfrm>
            <a:off x="6096000" y="2725977"/>
            <a:ext cx="5989839" cy="123771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96000" y="2725978"/>
            <a:ext cx="5989839" cy="3589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90EF6E-1F47-43C9-B4D0-BC92CBDA7D97}"/>
              </a:ext>
            </a:extLst>
          </p:cNvPr>
          <p:cNvSpPr/>
          <p:nvPr/>
        </p:nvSpPr>
        <p:spPr>
          <a:xfrm>
            <a:off x="838200" y="2060660"/>
            <a:ext cx="1646382" cy="1837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C4D6CC0-136D-4710-8F4E-C9F7D8D4637E}"/>
                  </a:ext>
                </a:extLst>
              </p:cNvPr>
              <p:cNvSpPr txBox="1"/>
              <p:nvPr/>
            </p:nvSpPr>
            <p:spPr>
              <a:xfrm>
                <a:off x="-312230" y="4147310"/>
                <a:ext cx="7787260" cy="2118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𝑐h𝑖𝑙𝑑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d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𝑐h𝑖𝑙𝑑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𝑐h𝑖𝑙𝑑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+0.5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𝑚𝑞</m:t>
                      </m:r>
                    </m:oMath>
                  </m:oMathPara>
                </a14:m>
                <a:br>
                  <a:rPr lang="en-US" altLang="zh-CN" b="0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0C4D6CC0-136D-4710-8F4E-C9F7D8D46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2230" y="4147310"/>
                <a:ext cx="7787260" cy="2118465"/>
              </a:xfrm>
              <a:prstGeom prst="rect">
                <a:avLst/>
              </a:prstGeom>
              <a:blipFill>
                <a:blip r:embed="rId6"/>
                <a:stretch>
                  <a:fillRect r="-2584" b="-1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C8EBABE1-EE0E-4C8E-81E6-F99269B76E4B}"/>
              </a:ext>
            </a:extLst>
          </p:cNvPr>
          <p:cNvSpPr txBox="1"/>
          <p:nvPr/>
        </p:nvSpPr>
        <p:spPr>
          <a:xfrm>
            <a:off x="8347364" y="5021876"/>
            <a:ext cx="2790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Apply the conditioning rule.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62942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BE709-848C-4E07-B8F6-B96E0380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55548B-7C96-44F7-B1C5-AB585E4A4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2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81391-88F2-4C11-AF2A-A135CAF4F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01F158-2D3D-4D93-B5AF-4E7B1397F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C85360-6C0C-4D54-B470-A10740E2C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9388AF9-204A-4539-89B7-117B1EFAE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60660"/>
            <a:ext cx="5174113" cy="183708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FF6D7E3-928E-43EA-876E-0D5DF9EAB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93293"/>
            <a:ext cx="5989839" cy="143268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074E224-502A-413D-AFE9-25DA82B5AAA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6840"/>
          <a:stretch/>
        </p:blipFill>
        <p:spPr>
          <a:xfrm>
            <a:off x="6096000" y="2725977"/>
            <a:ext cx="5989839" cy="123771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8C8E7C7-F848-47B4-9AC1-3B194FCCFB17}"/>
              </a:ext>
            </a:extLst>
          </p:cNvPr>
          <p:cNvSpPr/>
          <p:nvPr/>
        </p:nvSpPr>
        <p:spPr>
          <a:xfrm>
            <a:off x="6095999" y="3123964"/>
            <a:ext cx="5989839" cy="7983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E90EF6E-1F47-43C9-B4D0-BC92CBDA7D97}"/>
              </a:ext>
            </a:extLst>
          </p:cNvPr>
          <p:cNvSpPr/>
          <p:nvPr/>
        </p:nvSpPr>
        <p:spPr>
          <a:xfrm>
            <a:off x="838200" y="2060660"/>
            <a:ext cx="1646382" cy="18370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EBABE1-EE0E-4C8E-81E6-F99269B76E4B}"/>
                  </a:ext>
                </a:extLst>
              </p:cNvPr>
              <p:cNvSpPr txBox="1"/>
              <p:nvPr/>
            </p:nvSpPr>
            <p:spPr>
              <a:xfrm>
                <a:off x="790571" y="4077132"/>
                <a:ext cx="5726952" cy="965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What is the genetic equilibrium?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should have the same distribution in each generation,</a:t>
                </a:r>
                <a:br>
                  <a:rPr lang="en-US" altLang="zh-CN" dirty="0"/>
                </a:br>
                <a:r>
                  <a:rPr lang="en-US" altLang="zh-CN" dirty="0"/>
                  <a:t>which means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,∀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dirty="0"/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EBABE1-EE0E-4C8E-81E6-F99269B76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1" y="4077132"/>
                <a:ext cx="5726952" cy="965392"/>
              </a:xfrm>
              <a:prstGeom prst="rect">
                <a:avLst/>
              </a:prstGeom>
              <a:blipFill>
                <a:blip r:embed="rId6"/>
                <a:stretch>
                  <a:fillRect l="-958" t="-3797" r="-213" b="-7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8AC055-AD00-471C-B30A-85E562738EB5}"/>
                  </a:ext>
                </a:extLst>
              </p:cNvPr>
              <p:cNvSpPr txBox="1"/>
              <p:nvPr/>
            </p:nvSpPr>
            <p:spPr>
              <a:xfrm>
                <a:off x="790571" y="5155964"/>
                <a:ext cx="5222455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Apply the equilibrium rule,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𝑐h𝑖𝑙𝑑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altLang="zh-CN" dirty="0"/>
                  <a:t>, that is,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altLang="zh-CN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CC8AC055-AD00-471C-B30A-85E562738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1" y="5155964"/>
                <a:ext cx="5222455" cy="923330"/>
              </a:xfrm>
              <a:prstGeom prst="rect">
                <a:avLst/>
              </a:prstGeom>
              <a:blipFill>
                <a:blip r:embed="rId7"/>
                <a:stretch>
                  <a:fillRect l="-1051" t="-3974" r="-117" b="-1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3B1ADE2C-7834-4559-B254-604D7695CA09}"/>
              </a:ext>
            </a:extLst>
          </p:cNvPr>
          <p:cNvSpPr txBox="1"/>
          <p:nvPr/>
        </p:nvSpPr>
        <p:spPr>
          <a:xfrm>
            <a:off x="6624195" y="4077132"/>
            <a:ext cx="51274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 reality, few people are left-handed.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Possible explanation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Right-hand gene is dominant.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handedness may be controlled jointly by</a:t>
            </a:r>
            <a:br>
              <a:rPr lang="en-US" altLang="zh-CN" dirty="0"/>
            </a:br>
            <a:r>
              <a:rPr lang="en-US" altLang="zh-CN" dirty="0"/>
              <a:t>several genes.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24574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BFDE7-E11A-4F78-8174-D62349E7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31459-69D2-44DC-B61D-476C3A65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659EA-3C47-4475-836E-B3BCA9F7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40904-C233-48D4-907F-1EFAF426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B344B-84CE-44CF-A35F-FC10E9D4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726168-3DE6-4F3D-B04F-36267126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5878"/>
            <a:ext cx="6005080" cy="16994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C734B9-1CB3-46FE-AE7D-318FD03A7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15285"/>
            <a:ext cx="6005080" cy="81541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7D98F7-5EF6-4A8D-837E-DC0A4DB2E860}"/>
              </a:ext>
            </a:extLst>
          </p:cNvPr>
          <p:cNvSpPr txBox="1"/>
          <p:nvPr/>
        </p:nvSpPr>
        <p:spPr>
          <a:xfrm>
            <a:off x="838200" y="4697738"/>
            <a:ext cx="24018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Attention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Formulate as DBN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Formulated as HMM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/>
              <p:nvPr/>
            </p:nvSpPr>
            <p:spPr>
              <a:xfrm>
                <a:off x="7222836" y="2124364"/>
                <a:ext cx="479823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Notations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enough sleep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red eyes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sleep in class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836" y="2124364"/>
                <a:ext cx="4798237" cy="1477328"/>
              </a:xfrm>
              <a:prstGeom prst="rect">
                <a:avLst/>
              </a:prstGeom>
              <a:blipFill>
                <a:blip r:embed="rId4"/>
                <a:stretch>
                  <a:fillRect l="-1144" t="-2058" r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7822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BFDE7-E11A-4F78-8174-D62349E7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31459-69D2-44DC-B61D-476C3A65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46"/>
            <a:ext cx="10515600" cy="4621117"/>
          </a:xfrm>
        </p:spPr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659EA-3C47-4475-836E-B3BCA9F7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40904-C233-48D4-907F-1EFAF426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B344B-84CE-44CF-A35F-FC10E9D4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49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726168-3DE6-4F3D-B04F-36267126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5878"/>
            <a:ext cx="6005080" cy="16994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7D98F7-5EF6-4A8D-837E-DC0A4DB2E860}"/>
              </a:ext>
            </a:extLst>
          </p:cNvPr>
          <p:cNvSpPr txBox="1"/>
          <p:nvPr/>
        </p:nvSpPr>
        <p:spPr>
          <a:xfrm>
            <a:off x="2842505" y="4300575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DBN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/>
              <p:nvPr/>
            </p:nvSpPr>
            <p:spPr>
              <a:xfrm>
                <a:off x="7222836" y="2124364"/>
                <a:ext cx="4798237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Notations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enough sleep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red eyes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sleep in class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836" y="2124364"/>
                <a:ext cx="4798237" cy="1477328"/>
              </a:xfrm>
              <a:prstGeom prst="rect">
                <a:avLst/>
              </a:prstGeom>
              <a:blipFill>
                <a:blip r:embed="rId3"/>
                <a:stretch>
                  <a:fillRect l="-1144" t="-2058" r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3C4F854-DA0E-444F-B9F9-DB51633657B7}"/>
                  </a:ext>
                </a:extLst>
              </p:cNvPr>
              <p:cNvSpPr/>
              <p:nvPr/>
            </p:nvSpPr>
            <p:spPr>
              <a:xfrm>
                <a:off x="3897760" y="4544292"/>
                <a:ext cx="1117600" cy="59112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3C4F854-DA0E-444F-B9F9-DB5163365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760" y="4544292"/>
                <a:ext cx="1117600" cy="59112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00E2A8E-9E3B-4E43-95C2-7EE1323085D6}"/>
                  </a:ext>
                </a:extLst>
              </p:cNvPr>
              <p:cNvSpPr/>
              <p:nvPr/>
            </p:nvSpPr>
            <p:spPr>
              <a:xfrm>
                <a:off x="5364032" y="4544292"/>
                <a:ext cx="1117600" cy="59112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00E2A8E-9E3B-4E43-95C2-7EE132308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32" y="4544292"/>
                <a:ext cx="1117600" cy="59112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6146341-E170-4AC6-8144-9265BA9631C1}"/>
                  </a:ext>
                </a:extLst>
              </p:cNvPr>
              <p:cNvSpPr/>
              <p:nvPr/>
            </p:nvSpPr>
            <p:spPr>
              <a:xfrm>
                <a:off x="5202396" y="5394796"/>
                <a:ext cx="720436" cy="385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6146341-E170-4AC6-8144-9265BA963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396" y="5394796"/>
                <a:ext cx="720436" cy="385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59BD0BB-3BE0-499C-8B02-920E32ED53DE}"/>
                  </a:ext>
                </a:extLst>
              </p:cNvPr>
              <p:cNvSpPr/>
              <p:nvPr/>
            </p:nvSpPr>
            <p:spPr>
              <a:xfrm>
                <a:off x="6029050" y="5394796"/>
                <a:ext cx="720436" cy="385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C59BD0BB-3BE0-499C-8B02-920E32ED53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050" y="5394796"/>
                <a:ext cx="720436" cy="3850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54A0A15-ECF6-4CE5-AE96-FE171681E8E5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5015360" y="4839856"/>
            <a:ext cx="34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F766B71-92F2-47A8-BB08-269D3E646C0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5562614" y="5135419"/>
            <a:ext cx="360218" cy="259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69E3C246-E106-41F9-8881-E2DDCC5D3161}"/>
              </a:ext>
            </a:extLst>
          </p:cNvPr>
          <p:cNvCxnSpPr>
            <a:stCxn id="12" idx="4"/>
            <a:endCxn id="14" idx="0"/>
          </p:cNvCxnSpPr>
          <p:nvPr/>
        </p:nvCxnSpPr>
        <p:spPr>
          <a:xfrm>
            <a:off x="5922832" y="5135419"/>
            <a:ext cx="466436" cy="259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43D6902-B1CB-4FD2-9FB1-286829F112FB}"/>
              </a:ext>
            </a:extLst>
          </p:cNvPr>
          <p:cNvCxnSpPr>
            <a:stCxn id="12" idx="6"/>
          </p:cNvCxnSpPr>
          <p:nvPr/>
        </p:nvCxnSpPr>
        <p:spPr>
          <a:xfrm>
            <a:off x="6481632" y="4839856"/>
            <a:ext cx="267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29853B6-0BF4-4BB0-8EAC-8C6B383F5183}"/>
              </a:ext>
            </a:extLst>
          </p:cNvPr>
          <p:cNvSpPr txBox="1"/>
          <p:nvPr/>
        </p:nvSpPr>
        <p:spPr>
          <a:xfrm>
            <a:off x="6830304" y="460318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70A13C78-31CB-4C87-B75A-CDBBAFC40E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0422211"/>
                  </p:ext>
                </p:extLst>
              </p:nvPr>
            </p:nvGraphicFramePr>
            <p:xfrm>
              <a:off x="2752451" y="4954042"/>
              <a:ext cx="1117600" cy="39993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70A13C78-31CB-4C87-B75A-CDBBAFC40E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0422211"/>
                  </p:ext>
                </p:extLst>
              </p:nvPr>
            </p:nvGraphicFramePr>
            <p:xfrm>
              <a:off x="2752451" y="4954042"/>
              <a:ext cx="1117600" cy="39993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543" t="-2941" r="-2717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543" t="-106061" r="-2717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13246A8-64AB-4484-921A-D93F1ADF8F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645917"/>
                  </p:ext>
                </p:extLst>
              </p:nvPr>
            </p:nvGraphicFramePr>
            <p:xfrm>
              <a:off x="4521216" y="3930239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13246A8-64AB-4484-921A-D93F1ADF8F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91645917"/>
                  </p:ext>
                </p:extLst>
              </p:nvPr>
            </p:nvGraphicFramePr>
            <p:xfrm>
              <a:off x="4521216" y="3930239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111" t="-3030" r="-183333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875" t="-3030" r="-3125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111" t="-100000" r="-183333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875" t="-100000" r="-3125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111" t="-206061" r="-183333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875" t="-206061" r="-312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0B61575C-7CAE-4055-B7D0-7CCBBB0E2A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52912"/>
                  </p:ext>
                </p:extLst>
              </p:nvPr>
            </p:nvGraphicFramePr>
            <p:xfrm>
              <a:off x="6948071" y="5291213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𝑪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0B61575C-7CAE-4055-B7D0-7CCBBB0E2A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9152912"/>
                  </p:ext>
                </p:extLst>
              </p:nvPr>
            </p:nvGraphicFramePr>
            <p:xfrm>
              <a:off x="6948071" y="5291213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1099" t="-3030" r="-180220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57500" t="-3030" r="-2500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1099" t="-100000" r="-180220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57500" t="-100000" r="-2500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1099" t="-206061" r="-180220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0"/>
                          <a:stretch>
                            <a:fillRect l="-57500" t="-206061" r="-2500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80414014-D1E1-4034-9628-9CF7FB783D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210434"/>
                  </p:ext>
                </p:extLst>
              </p:nvPr>
            </p:nvGraphicFramePr>
            <p:xfrm>
              <a:off x="8557505" y="5281806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</m:oMath>
                          </a14:m>
                          <a:r>
                            <a:rPr lang="en-US" altLang="zh-CN" sz="1000" dirty="0"/>
                            <a:t>7</a:t>
                          </a:r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表格 27">
                <a:extLst>
                  <a:ext uri="{FF2B5EF4-FFF2-40B4-BE49-F238E27FC236}">
                    <a16:creationId xmlns:a16="http://schemas.microsoft.com/office/drawing/2014/main" id="{80414014-D1E1-4034-9628-9CF7FB783D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210434"/>
                  </p:ext>
                </p:extLst>
              </p:nvPr>
            </p:nvGraphicFramePr>
            <p:xfrm>
              <a:off x="8557505" y="5281806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1099" t="-3030" r="-180220" b="-2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57500" t="-3030" r="-2500" b="-23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1099" t="-103030" r="-180220" b="-1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57500" t="-103030" r="-2500" b="-13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1099" t="-203030" r="-180220" b="-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11"/>
                          <a:stretch>
                            <a:fillRect l="-57500" t="-203030" r="-2500" b="-3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204482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0BFDE7-E11A-4F78-8174-D62349E74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031459-69D2-44DC-B61D-476C3A65E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5846"/>
            <a:ext cx="10515600" cy="4621117"/>
          </a:xfrm>
        </p:spPr>
        <p:txBody>
          <a:bodyPr/>
          <a:lstStyle/>
          <a:p>
            <a:r>
              <a:rPr lang="en-US" altLang="zh-CN" dirty="0"/>
              <a:t>Problem 3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0659EA-3C47-4475-836E-B3BCA9F75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840904-C233-48D4-907F-1EFAF426E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9B344B-84CE-44CF-A35F-FC10E9D4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2726168-3DE6-4F3D-B04F-36267126C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15878"/>
            <a:ext cx="6005080" cy="169940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67D98F7-5EF6-4A8D-837E-DC0A4DB2E860}"/>
              </a:ext>
            </a:extLst>
          </p:cNvPr>
          <p:cNvSpPr txBox="1"/>
          <p:nvPr/>
        </p:nvSpPr>
        <p:spPr>
          <a:xfrm>
            <a:off x="2842505" y="430057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HMM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/>
              <p:nvPr/>
            </p:nvSpPr>
            <p:spPr>
              <a:xfrm>
                <a:off x="7222836" y="2124364"/>
                <a:ext cx="4798237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Notations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enough sleep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get red eyes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Whether sleep in class on the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en-US" altLang="zh-CN" dirty="0" err="1"/>
                  <a:t>th</a:t>
                </a:r>
                <a:r>
                  <a:rPr lang="en-US" altLang="zh-CN" dirty="0"/>
                  <a:t> day.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altLang="zh-CN" dirty="0"/>
                  <a:t>: Concatenation of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dirty="0"/>
                  <a:t>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A673D4C-4614-4BF8-8C00-039ACD8517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836" y="2124364"/>
                <a:ext cx="4798237" cy="1754326"/>
              </a:xfrm>
              <a:prstGeom prst="rect">
                <a:avLst/>
              </a:prstGeom>
              <a:blipFill>
                <a:blip r:embed="rId3"/>
                <a:stretch>
                  <a:fillRect l="-1144" t="-1736" r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3C4F854-DA0E-444F-B9F9-DB51633657B7}"/>
                  </a:ext>
                </a:extLst>
              </p:cNvPr>
              <p:cNvSpPr/>
              <p:nvPr/>
            </p:nvSpPr>
            <p:spPr>
              <a:xfrm>
                <a:off x="3897760" y="4544292"/>
                <a:ext cx="1117600" cy="59112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E3C4F854-DA0E-444F-B9F9-DB51633657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760" y="4544292"/>
                <a:ext cx="1117600" cy="591127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00E2A8E-9E3B-4E43-95C2-7EE1323085D6}"/>
                  </a:ext>
                </a:extLst>
              </p:cNvPr>
              <p:cNvSpPr/>
              <p:nvPr/>
            </p:nvSpPr>
            <p:spPr>
              <a:xfrm>
                <a:off x="5364032" y="4544292"/>
                <a:ext cx="1117600" cy="59112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900E2A8E-9E3B-4E43-95C2-7EE132308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32" y="4544292"/>
                <a:ext cx="1117600" cy="591127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6146341-E170-4AC6-8144-9265BA9631C1}"/>
                  </a:ext>
                </a:extLst>
              </p:cNvPr>
              <p:cNvSpPr/>
              <p:nvPr/>
            </p:nvSpPr>
            <p:spPr>
              <a:xfrm>
                <a:off x="5562614" y="5394796"/>
                <a:ext cx="720436" cy="385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dk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6146341-E170-4AC6-8144-9265BA9631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14" y="5394796"/>
                <a:ext cx="720436" cy="385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dk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754A0A15-ECF6-4CE5-AE96-FE171681E8E5}"/>
              </a:ext>
            </a:extLst>
          </p:cNvPr>
          <p:cNvCxnSpPr>
            <a:stCxn id="11" idx="6"/>
            <a:endCxn id="12" idx="2"/>
          </p:cNvCxnSpPr>
          <p:nvPr/>
        </p:nvCxnSpPr>
        <p:spPr>
          <a:xfrm>
            <a:off x="5015360" y="4839856"/>
            <a:ext cx="3486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3F766B71-92F2-47A8-BB08-269D3E646C0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>
            <a:off x="5922832" y="5135419"/>
            <a:ext cx="0" cy="259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D43D6902-B1CB-4FD2-9FB1-286829F112FB}"/>
              </a:ext>
            </a:extLst>
          </p:cNvPr>
          <p:cNvCxnSpPr>
            <a:stCxn id="12" idx="6"/>
          </p:cNvCxnSpPr>
          <p:nvPr/>
        </p:nvCxnSpPr>
        <p:spPr>
          <a:xfrm>
            <a:off x="6481632" y="4839856"/>
            <a:ext cx="2678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C29853B6-0BF4-4BB0-8EAC-8C6B383F5183}"/>
              </a:ext>
            </a:extLst>
          </p:cNvPr>
          <p:cNvSpPr txBox="1"/>
          <p:nvPr/>
        </p:nvSpPr>
        <p:spPr>
          <a:xfrm>
            <a:off x="6830304" y="460318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70A13C78-31CB-4C87-B75A-CDBBAFC40E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52451" y="4954042"/>
              <a:ext cx="1117600" cy="39993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𝟎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4" name="表格 23">
                <a:extLst>
                  <a:ext uri="{FF2B5EF4-FFF2-40B4-BE49-F238E27FC236}">
                    <a16:creationId xmlns:a16="http://schemas.microsoft.com/office/drawing/2014/main" id="{70A13C78-31CB-4C87-B75A-CDBBAFC40E98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752451" y="4954042"/>
              <a:ext cx="1117600" cy="399932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1117600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7"/>
                          <a:stretch>
                            <a:fillRect l="-543" t="-2941" r="-2717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7"/>
                          <a:stretch>
                            <a:fillRect l="-543" t="-106061" r="-2717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13246A8-64AB-4484-921A-D93F1ADF8FD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21216" y="3930239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𝑻𝒓𝒖𝒆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0.8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5" name="表格 24">
                <a:extLst>
                  <a:ext uri="{FF2B5EF4-FFF2-40B4-BE49-F238E27FC236}">
                    <a16:creationId xmlns:a16="http://schemas.microsoft.com/office/drawing/2014/main" id="{313246A8-64AB-4484-921A-D93F1ADF8FD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21216" y="3930239"/>
              <a:ext cx="1519380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549562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969818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1111" t="-3030" r="-183333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56875" t="-3030" r="-3125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1111" t="-100000" r="-183333" b="-1029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56875" t="-100000" r="-3125" b="-1029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1111" t="-206061" r="-183333" b="-60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8"/>
                          <a:stretch>
                            <a:fillRect l="-56875" t="-206061" r="-3125" b="-60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0B61575C-7CAE-4055-B7D0-7CCBBB0E2A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805143"/>
                  </p:ext>
                </p:extLst>
              </p:nvPr>
            </p:nvGraphicFramePr>
            <p:xfrm>
              <a:off x="6481632" y="5332364"/>
              <a:ext cx="3507487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5235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618776032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410849757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1499664023"/>
                        </a:ext>
                      </a:extLst>
                    </a:gridCol>
                  </a:tblGrid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𝑺</m:t>
                                    </m:r>
                                  </m:e>
                                  <m: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𝑶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𝑶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𝑻𝑭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𝑶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𝑭𝑻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d>
                                  <m:dPr>
                                    <m:ctrlP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𝑶</m:t>
                                        </m:r>
                                      </m:e>
                                      <m:sub>
                                        <m:r>
                                          <a:rPr lang="en-US" altLang="zh-CN" sz="1000" b="1" i="1" smtClean="0">
                                            <a:latin typeface="Cambria Math" panose="02040503050406030204" pitchFamily="18" charset="0"/>
                                          </a:rPr>
                                          <m:t>𝒕</m:t>
                                        </m:r>
                                      </m:sub>
                                    </m:sSub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altLang="zh-CN" sz="1000" b="1" i="1" smtClean="0">
                                        <a:latin typeface="Cambria Math" panose="02040503050406030204" pitchFamily="18" charset="0"/>
                                      </a:rPr>
                                      <m:t>𝑭𝑭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𝑇𝑟𝑢𝑒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0.0</m:t>
                              </m:r>
                            </m:oMath>
                          </a14:m>
                          <a:r>
                            <a:rPr lang="en-US" altLang="zh-CN" sz="1000" dirty="0"/>
                            <a:t>2</a:t>
                          </a:r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0.18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0.72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454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𝐹𝑎𝑙𝑠𝑒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0.</m:t>
                              </m:r>
                            </m:oMath>
                          </a14:m>
                          <a:r>
                            <a:rPr lang="en-US" altLang="zh-CN" sz="1000" dirty="0"/>
                            <a:t>21</a:t>
                          </a:r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0.49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0.09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0.21</m:t>
                                </m:r>
                              </m:oMath>
                            </m:oMathPara>
                          </a14:m>
                          <a:endParaRPr lang="zh-CN" altLang="en-US" sz="1000" dirty="0"/>
                        </a:p>
                      </a:txBody>
                      <a:tcPr marL="47567" marR="47567" marT="23783" marB="23783" anchor="ctr"/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表格 26">
                <a:extLst>
                  <a:ext uri="{FF2B5EF4-FFF2-40B4-BE49-F238E27FC236}">
                    <a16:creationId xmlns:a16="http://schemas.microsoft.com/office/drawing/2014/main" id="{0B61575C-7CAE-4055-B7D0-7CCBBB0E2A2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22805143"/>
                  </p:ext>
                </p:extLst>
              </p:nvPr>
            </p:nvGraphicFramePr>
            <p:xfrm>
              <a:off x="6481632" y="5332364"/>
              <a:ext cx="3507487" cy="599898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5235">
                      <a:extLst>
                        <a:ext uri="{9D8B030D-6E8A-4147-A177-3AD203B41FA5}">
                          <a16:colId xmlns:a16="http://schemas.microsoft.com/office/drawing/2014/main" val="3319629504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2034179738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618776032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410849757"/>
                        </a:ext>
                      </a:extLst>
                    </a:gridCol>
                    <a:gridCol w="768063">
                      <a:extLst>
                        <a:ext uri="{9D8B030D-6E8A-4147-A177-3AD203B41FA5}">
                          <a16:colId xmlns:a16="http://schemas.microsoft.com/office/drawing/2014/main" val="1499664023"/>
                        </a:ext>
                      </a:extLst>
                    </a:gridCol>
                  </a:tblGrid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408" t="-3030" r="-716901" b="-2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693" t="-3030" r="-300787" b="-2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57937" t="-3030" r="-203175" b="-2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257937" t="-3030" r="-103175" b="-2303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357937" t="-3030" r="-3175" b="-2303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467758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408" t="-100000" r="-716901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693" t="-100000" r="-30078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57937" t="-100000" r="-203175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257937" t="-100000" r="-103175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357937" t="-100000" r="-3175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7868347"/>
                      </a:ext>
                    </a:extLst>
                  </a:tr>
                  <a:tr h="1999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408" t="-206061" r="-716901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56693" t="-206061" r="-300787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157937" t="-206061" r="-203175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257937" t="-206061" r="-103175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7567" marR="47567" marT="23783" marB="23783" anchor="ctr">
                        <a:blipFill>
                          <a:blip r:embed="rId9"/>
                          <a:stretch>
                            <a:fillRect l="-357937" t="-206061" r="-3175" b="-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752764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44906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334327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CAADDE-FDC0-4195-96D0-A8062842902C}"/>
              </a:ext>
            </a:extLst>
          </p:cNvPr>
          <p:cNvSpPr txBox="1"/>
          <p:nvPr/>
        </p:nvSpPr>
        <p:spPr>
          <a:xfrm>
            <a:off x="7031770" y="2018167"/>
            <a:ext cx="157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filtering: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/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8B70309-1EE7-49BC-9FF0-694739530938}"/>
              </a:ext>
            </a:extLst>
          </p:cNvPr>
          <p:cNvSpPr txBox="1"/>
          <p:nvPr/>
        </p:nvSpPr>
        <p:spPr>
          <a:xfrm>
            <a:off x="5298502" y="4296369"/>
            <a:ext cx="6166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Message propagates forward along time sequence(transition), and updated by each observation(sensor).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013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334327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CAADDE-FDC0-4195-96D0-A8062842902C}"/>
              </a:ext>
            </a:extLst>
          </p:cNvPr>
          <p:cNvSpPr txBox="1"/>
          <p:nvPr/>
        </p:nvSpPr>
        <p:spPr>
          <a:xfrm>
            <a:off x="7031770" y="2018167"/>
            <a:ext cx="157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filtering: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/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18B70309-1EE7-49BC-9FF0-694739530938}"/>
              </a:ext>
            </a:extLst>
          </p:cNvPr>
          <p:cNvSpPr txBox="1"/>
          <p:nvPr/>
        </p:nvSpPr>
        <p:spPr>
          <a:xfrm>
            <a:off x="5298502" y="4296369"/>
            <a:ext cx="6166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Message propagates forward along time sequence(transition), and updated by each observation(sensor).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68811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334327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CAADDE-FDC0-4195-96D0-A8062842902C}"/>
              </a:ext>
            </a:extLst>
          </p:cNvPr>
          <p:cNvSpPr txBox="1"/>
          <p:nvPr/>
        </p:nvSpPr>
        <p:spPr>
          <a:xfrm>
            <a:off x="7031770" y="2018167"/>
            <a:ext cx="1578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filtering: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/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nary>
                        <m:naryPr>
                          <m:chr m:val="∑"/>
                          <m:supHide m:val="on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52" y="2323732"/>
                <a:ext cx="5157181" cy="7203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2442F4A5-9A72-4AE9-A276-0710C338B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855" y="3096490"/>
            <a:ext cx="5019773" cy="197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5521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611418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CAADDE-FDC0-4195-96D0-A8062842902C}"/>
              </a:ext>
            </a:extLst>
          </p:cNvPr>
          <p:cNvSpPr txBox="1"/>
          <p:nvPr/>
        </p:nvSpPr>
        <p:spPr>
          <a:xfrm>
            <a:off x="6877445" y="2029877"/>
            <a:ext cx="184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smoothing: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/>
              <p:nvPr/>
            </p:nvSpPr>
            <p:spPr>
              <a:xfrm>
                <a:off x="6842616" y="2417954"/>
                <a:ext cx="35359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616" y="2417954"/>
                <a:ext cx="3535968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FC3BC172-9695-4F46-8004-AB6D6D23BA0A}"/>
              </a:ext>
            </a:extLst>
          </p:cNvPr>
          <p:cNvSpPr txBox="1"/>
          <p:nvPr/>
        </p:nvSpPr>
        <p:spPr>
          <a:xfrm>
            <a:off x="6864927" y="3324347"/>
            <a:ext cx="4326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Message propagates forward and backward.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29B8D1A-10EE-4422-B1CC-F8E4D8BE29D1}"/>
                  </a:ext>
                </a:extLst>
              </p:cNvPr>
              <p:cNvSpPr/>
              <p:nvPr/>
            </p:nvSpPr>
            <p:spPr>
              <a:xfrm>
                <a:off x="6828039" y="2695301"/>
                <a:ext cx="5458289" cy="7210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+2: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29B8D1A-10EE-4422-B1CC-F8E4D8BE29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039" y="2695301"/>
                <a:ext cx="5458289" cy="7210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15700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611418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5CAADDE-FDC0-4195-96D0-A8062842902C}"/>
              </a:ext>
            </a:extLst>
          </p:cNvPr>
          <p:cNvSpPr txBox="1"/>
          <p:nvPr/>
        </p:nvSpPr>
        <p:spPr>
          <a:xfrm>
            <a:off x="6877445" y="2029877"/>
            <a:ext cx="1849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Recall smoothing: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/>
              <p:nvPr/>
            </p:nvSpPr>
            <p:spPr>
              <a:xfrm>
                <a:off x="6842616" y="2417954"/>
                <a:ext cx="35359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7338AEB-1ABD-44AC-89A6-F1C1122B9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616" y="2417954"/>
                <a:ext cx="3535968" cy="338554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29B8D1A-10EE-4422-B1CC-F8E4D8BE29D1}"/>
                  </a:ext>
                </a:extLst>
              </p:cNvPr>
              <p:cNvSpPr/>
              <p:nvPr/>
            </p:nvSpPr>
            <p:spPr>
              <a:xfrm>
                <a:off x="6828039" y="2695301"/>
                <a:ext cx="5458289" cy="7210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+1: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+2: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D29B8D1A-10EE-4422-B1CC-F8E4D8BE29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039" y="2695301"/>
                <a:ext cx="5458289" cy="7210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9CB7747-63EC-44FE-AF02-AD2736520A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5839" y="3407577"/>
            <a:ext cx="4670454" cy="22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87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22BF1E-2F11-465D-9C84-878290A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79DE83-BEC2-4AC5-9D05-46697DAC7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Problem 4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D6D57E-D830-4392-93DD-571085CE4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BA9431-29FA-4A90-9934-128F402BD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9B67D0-3535-40C1-B58E-FD0DEBA3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40D035A-1A41-450B-B49A-B8726C975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18167"/>
            <a:ext cx="5989839" cy="2156647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3578708-B872-4CA8-92B2-3ABCB983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794" y="4332303"/>
            <a:ext cx="7364606" cy="2024047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D8016E3C-35BE-4FBD-B376-81031F12E921}"/>
              </a:ext>
            </a:extLst>
          </p:cNvPr>
          <p:cNvSpPr/>
          <p:nvPr/>
        </p:nvSpPr>
        <p:spPr>
          <a:xfrm>
            <a:off x="1016000" y="3851561"/>
            <a:ext cx="5671127" cy="2678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719BBB-6DC6-412B-8591-433D1F370E4B}"/>
              </a:ext>
            </a:extLst>
          </p:cNvPr>
          <p:cNvSpPr txBox="1"/>
          <p:nvPr/>
        </p:nvSpPr>
        <p:spPr>
          <a:xfrm>
            <a:off x="7148945" y="2115127"/>
            <a:ext cx="493436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The smoothed probabilities provide more accurate</a:t>
            </a:r>
          </a:p>
          <a:p>
            <a:r>
              <a:rPr lang="en-US" altLang="zh-CN" dirty="0"/>
              <a:t>estimation than the filtered result.</a:t>
            </a:r>
          </a:p>
          <a:p>
            <a:endParaRPr lang="en-US" altLang="zh-CN" dirty="0"/>
          </a:p>
          <a:p>
            <a:r>
              <a:rPr lang="en-US" altLang="zh-CN" dirty="0"/>
              <a:t>Because smoothing considered future evidence to</a:t>
            </a:r>
            <a:br>
              <a:rPr lang="en-US" altLang="zh-CN" dirty="0"/>
            </a:br>
            <a:r>
              <a:rPr lang="en-US" altLang="zh-CN" dirty="0"/>
              <a:t>refine the result.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4F04ECD-0DB5-4101-8826-7FB313F4A3AD}"/>
              </a:ext>
            </a:extLst>
          </p:cNvPr>
          <p:cNvSpPr txBox="1"/>
          <p:nvPr/>
        </p:nvSpPr>
        <p:spPr>
          <a:xfrm>
            <a:off x="7148946" y="3713149"/>
            <a:ext cx="49343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 typical application: tracking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Online tracking: real-time tracking, without future info.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Offline tracking: track on a whole sequence, with future info.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348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1C5D12B-B906-4ABB-AE75-5960ED197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Thanks for watching!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8456F9-64E9-47E2-A658-A15A746C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29C-EFD0-493C-8B18-D6E9F5C4E11C}" type="datetime1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1AEB6E-0CE3-4019-AC70-D1BEB8023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2021 Spring, Artificial Intelligence, ISEE, Zhejiang University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3A2EEC-160E-4DD9-B99A-AD3B5223D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CA0B7-93AB-481E-9FA1-2CC4839958F1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81636"/>
      </p:ext>
    </p:extLst>
  </p:cSld>
  <p:clrMapOvr>
    <a:masterClrMapping/>
  </p:clrMapOvr>
</p:sld>
</file>

<file path=ppt/theme/theme1.xml><?xml version="1.0" encoding="utf-8"?>
<a:theme xmlns:a="http://schemas.openxmlformats.org/drawingml/2006/main" name="my_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dk1"/>
          </a:solidFill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y_theme" id="{377BFAEA-E946-4FBD-83BA-C93F2581C210}" vid="{8E591658-DB33-46CA-9156-52D67C6FF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my_theme</Template>
  <TotalTime>7502</TotalTime>
  <Words>8119</Words>
  <Application>Microsoft Office PowerPoint</Application>
  <PresentationFormat>宽屏</PresentationFormat>
  <Paragraphs>1364</Paragraphs>
  <Slides>57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4" baseType="lpstr">
      <vt:lpstr>等线</vt:lpstr>
      <vt:lpstr>宋体</vt:lpstr>
      <vt:lpstr>Arial</vt:lpstr>
      <vt:lpstr>Calibri</vt:lpstr>
      <vt:lpstr>Cambria Math</vt:lpstr>
      <vt:lpstr>Wingdings</vt:lpstr>
      <vt:lpstr>my_theme</vt:lpstr>
      <vt:lpstr>Recitations</vt:lpstr>
      <vt:lpstr>Outline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3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Homework 4</vt:lpstr>
      <vt:lpstr>Thanks for watching!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Recitation</dc:title>
  <dc:creator>win</dc:creator>
  <cp:lastModifiedBy>win</cp:lastModifiedBy>
  <cp:revision>448</cp:revision>
  <dcterms:created xsi:type="dcterms:W3CDTF">2021-04-02T12:00:05Z</dcterms:created>
  <dcterms:modified xsi:type="dcterms:W3CDTF">2021-05-16T17:11:03Z</dcterms:modified>
</cp:coreProperties>
</file>